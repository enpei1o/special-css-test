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4" name="Text 1"/>
          <p:cNvSpPr/>
          <p:nvPr/>
        </p:nvSpPr>
        <p:spPr>
          <a:xfrm>
            <a:off x="428625" y="1080185"/>
            <a:ext cx="3257550" cy="1508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94" b="1" spc="-1" kern="0" dirty="0">
                <a:solidFill>
                  <a:srgbClr val="FFFFFF"/>
                </a:solidFill>
              </a:rPr>
              <a:t>CSS 新紀元：</a:t>
            </a:r>
            <a:pPr algn="l" indent="0" marL="0">
              <a:lnSpc>
                <a:spcPts val="4000"/>
              </a:lnSpc>
              <a:buNone/>
            </a:pPr>
            <a:r>
              <a:rPr lang="en-US" sz="3294" b="1" spc="-1" kern="0" dirty="0">
                <a:solidFill>
                  <a:srgbClr val="FFFFFF"/>
                </a:solidFill>
              </a:rPr>
              <a:t>
</a:t>
            </a:r>
            <a:pPr algn="l" indent="0" marL="0">
              <a:lnSpc>
                <a:spcPts val="4000"/>
              </a:lnSpc>
              <a:buNone/>
            </a:pPr>
            <a:r>
              <a:rPr lang="en-US" sz="3294" b="1" spc="-1" kern="0" dirty="0">
                <a:solidFill>
                  <a:srgbClr val="FFFFFF"/>
                </a:solidFill>
              </a:rPr>
              <a:t>流暢過渡與</a:t>
            </a:r>
            <a:pPr algn="l" indent="0" marL="0">
              <a:lnSpc>
                <a:spcPts val="4000"/>
              </a:lnSpc>
              <a:buNone/>
            </a:pPr>
            <a:r>
              <a:rPr lang="en-US" sz="3294" b="1" spc="-1" kern="0" dirty="0">
                <a:solidFill>
                  <a:srgbClr val="FFFFFF"/>
                </a:solidFill>
              </a:rPr>
              <a:t>
</a:t>
            </a:r>
            <a:pPr algn="l" indent="0" marL="0">
              <a:lnSpc>
                <a:spcPts val="4000"/>
              </a:lnSpc>
              <a:buNone/>
            </a:pPr>
            <a:r>
              <a:rPr lang="en-US" sz="3294" b="1" spc="-1" kern="0" dirty="0">
                <a:solidFill>
                  <a:srgbClr val="FFFFFF"/>
                </a:solidFill>
              </a:rPr>
              <a:t>精準定位</a:t>
            </a:r>
            <a:endParaRPr lang="en-US" sz="3294" dirty="0"/>
          </a:p>
        </p:txBody>
      </p:sp>
      <p:sp>
        <p:nvSpPr>
          <p:cNvPr id="5" name="Text 2"/>
          <p:cNvSpPr/>
          <p:nvPr/>
        </p:nvSpPr>
        <p:spPr>
          <a:xfrm>
            <a:off x="428625" y="2760362"/>
            <a:ext cx="3257550" cy="9600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704" dirty="0">
                <a:solidFill>
                  <a:srgbClr val="FFFFFF">
                    <a:alpha val="90000"/>
                  </a:srgbClr>
                </a:solidFill>
              </a:rPr>
              <a:t>View Transitions &amp;</a:t>
            </a:r>
            <a:pPr algn="l" indent="0" marL="0">
              <a:lnSpc>
                <a:spcPts val="2500"/>
              </a:lnSpc>
              <a:buNone/>
            </a:pPr>
            <a:r>
              <a:rPr lang="en-US" sz="1704" dirty="0">
                <a:solidFill>
                  <a:srgbClr val="FFFFFF">
                    <a:alpha val="90000"/>
                  </a:srgbClr>
                </a:solidFill>
              </a:rPr>
              <a:t>
</a:t>
            </a:r>
            <a:pPr algn="l" indent="0" marL="0">
              <a:lnSpc>
                <a:spcPts val="2500"/>
              </a:lnSpc>
              <a:buNone/>
            </a:pPr>
            <a:r>
              <a:rPr lang="en-US" sz="1704" dirty="0">
                <a:solidFill>
                  <a:srgbClr val="FFFFFF">
                    <a:alpha val="90000"/>
                  </a:srgbClr>
                </a:solidFill>
              </a:rPr>
              <a:t>Anchor Positioning</a:t>
            </a:r>
            <a:pPr algn="l" indent="0" marL="0">
              <a:lnSpc>
                <a:spcPts val="2500"/>
              </a:lnSpc>
              <a:buNone/>
            </a:pPr>
            <a:r>
              <a:rPr lang="en-US" sz="1704" dirty="0">
                <a:solidFill>
                  <a:srgbClr val="FFFFFF">
                    <a:alpha val="90000"/>
                  </a:srgbClr>
                </a:solidFill>
              </a:rPr>
              <a:t>
</a:t>
            </a:r>
            <a:pPr algn="l" indent="0" marL="0">
              <a:lnSpc>
                <a:spcPts val="2500"/>
              </a:lnSpc>
              <a:buNone/>
            </a:pPr>
            <a:r>
              <a:rPr lang="en-US" sz="1704" dirty="0">
                <a:solidFill>
                  <a:srgbClr val="FFFFFF">
                    <a:alpha val="90000"/>
                  </a:srgbClr>
                </a:solidFill>
              </a:rPr>
              <a:t>深度解析</a:t>
            </a:r>
            <a:endParaRPr lang="en-US" sz="1704" dirty="0"/>
          </a:p>
        </p:txBody>
      </p:sp>
      <p:sp>
        <p:nvSpPr>
          <p:cNvPr id="6" name="Shape 3"/>
          <p:cNvSpPr/>
          <p:nvPr/>
        </p:nvSpPr>
        <p:spPr>
          <a:xfrm>
            <a:off x="428625" y="4079081"/>
            <a:ext cx="2700505" cy="492919"/>
          </a:xfrm>
          <a:prstGeom prst="rect">
            <a:avLst/>
          </a:prstGeom>
          <a:solidFill>
            <a:srgbClr val="FF4500"/>
          </a:solidFill>
          <a:ln/>
        </p:spPr>
      </p:sp>
      <p:sp>
        <p:nvSpPr>
          <p:cNvPr id="7" name="Text 4"/>
          <p:cNvSpPr/>
          <p:nvPr/>
        </p:nvSpPr>
        <p:spPr>
          <a:xfrm>
            <a:off x="428625" y="4079081"/>
            <a:ext cx="2700505" cy="492919"/>
          </a:xfrm>
          <a:prstGeom prst="rect">
            <a:avLst/>
          </a:prstGeom>
          <a:noFill/>
          <a:ln/>
        </p:spPr>
        <p:txBody>
          <a:bodyPr wrap="square" lIns="340233" tIns="170053" rIns="340233" bIns="170053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打造類原生 App 的流暢網頁體驗</a:t>
            </a:r>
            <a:endParaRPr lang="en-US" sz="987" dirty="0"/>
          </a:p>
        </p:txBody>
      </p:sp>
      <p:sp>
        <p:nvSpPr>
          <p:cNvPr id="8" name="Shape 5"/>
          <p:cNvSpPr/>
          <p:nvPr/>
        </p:nvSpPr>
        <p:spPr>
          <a:xfrm>
            <a:off x="4114800" y="0"/>
            <a:ext cx="5029200" cy="5143500"/>
          </a:xfrm>
          <a:prstGeom prst="rect">
            <a:avLst/>
          </a:prstGeom>
          <a:solidFill>
            <a:srgbClr val="1A1A1A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>
            <a:alphaModFix amt="90000"/>
          </a:blip>
          <a:stretch>
            <a:fillRect/>
          </a:stretch>
        </p:blipFill>
        <p:spPr>
          <a:xfrm>
            <a:off x="4114800" y="0"/>
            <a:ext cx="50292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Text 1"/>
          <p:cNvSpPr/>
          <p:nvPr/>
        </p:nvSpPr>
        <p:spPr>
          <a:xfrm>
            <a:off x="357188" y="428625"/>
            <a:ext cx="2943225" cy="475059"/>
          </a:xfrm>
          <a:prstGeom prst="rect">
            <a:avLst/>
          </a:prstGeom>
          <a:noFill/>
          <a:ln/>
        </p:spPr>
        <p:txBody>
          <a:bodyPr wrap="square" lIns="0" tIns="0" rIns="0" bIns="136017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4500"/>
                </a:solidFill>
              </a:rPr>
              <a:t>當前的開發痛點</a:t>
            </a:r>
            <a:endParaRPr lang="en-US" sz="1602" dirty="0"/>
          </a:p>
        </p:txBody>
      </p:sp>
      <p:sp>
        <p:nvSpPr>
          <p:cNvPr id="5" name="Shape 2"/>
          <p:cNvSpPr/>
          <p:nvPr/>
        </p:nvSpPr>
        <p:spPr>
          <a:xfrm>
            <a:off x="357188" y="1057275"/>
            <a:ext cx="228600" cy="228600"/>
          </a:xfrm>
          <a:prstGeom prst="ellipse">
            <a:avLst/>
          </a:prstGeom>
          <a:solidFill>
            <a:srgbClr val="FF4500"/>
          </a:solidFill>
          <a:ln/>
        </p:spPr>
      </p:sp>
      <p:sp>
        <p:nvSpPr>
          <p:cNvPr id="6" name="Text 3"/>
          <p:cNvSpPr/>
          <p:nvPr/>
        </p:nvSpPr>
        <p:spPr>
          <a:xfrm>
            <a:off x="357188" y="1057275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1</a:t>
            </a:r>
            <a:endParaRPr lang="en-US" sz="784" dirty="0"/>
          </a:p>
        </p:txBody>
      </p:sp>
      <p:sp>
        <p:nvSpPr>
          <p:cNvPr id="7" name="Text 4"/>
          <p:cNvSpPr/>
          <p:nvPr/>
        </p:nvSpPr>
        <p:spPr>
          <a:xfrm>
            <a:off x="671513" y="1046559"/>
            <a:ext cx="857250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動畫難度高</a:t>
            </a:r>
            <a:endParaRPr lang="en-US" sz="1193" dirty="0"/>
          </a:p>
        </p:txBody>
      </p:sp>
      <p:sp>
        <p:nvSpPr>
          <p:cNvPr id="8" name="Text 5"/>
          <p:cNvSpPr/>
          <p:nvPr/>
        </p:nvSpPr>
        <p:spPr>
          <a:xfrm>
            <a:off x="357188" y="1382316"/>
            <a:ext cx="2943225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CCCCCC">
                    <a:alpha val="90000"/>
                  </a:srgbClr>
                </a:solidFill>
              </a:rPr>
              <a:t>實現跨頁面轉場極度依賴複雜的 JS 框架（如 Framer Motion），增加學習曲線與效能負擔。</a:t>
            </a:r>
            <a:endParaRPr lang="en-US" sz="942" dirty="0"/>
          </a:p>
        </p:txBody>
      </p:sp>
      <p:sp>
        <p:nvSpPr>
          <p:cNvPr id="9" name="Shape 6"/>
          <p:cNvSpPr/>
          <p:nvPr/>
        </p:nvSpPr>
        <p:spPr>
          <a:xfrm>
            <a:off x="357188" y="1947342"/>
            <a:ext cx="228600" cy="228600"/>
          </a:xfrm>
          <a:prstGeom prst="ellipse">
            <a:avLst/>
          </a:prstGeom>
          <a:solidFill>
            <a:srgbClr val="FF4500"/>
          </a:solidFill>
          <a:ln/>
        </p:spPr>
      </p:sp>
      <p:sp>
        <p:nvSpPr>
          <p:cNvPr id="10" name="Text 7"/>
          <p:cNvSpPr/>
          <p:nvPr/>
        </p:nvSpPr>
        <p:spPr>
          <a:xfrm>
            <a:off x="357188" y="1947342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2</a:t>
            </a:r>
            <a:endParaRPr lang="en-US" sz="784" dirty="0"/>
          </a:p>
        </p:txBody>
      </p:sp>
      <p:sp>
        <p:nvSpPr>
          <p:cNvPr id="11" name="Text 8"/>
          <p:cNvSpPr/>
          <p:nvPr/>
        </p:nvSpPr>
        <p:spPr>
          <a:xfrm>
            <a:off x="671513" y="1936626"/>
            <a:ext cx="2198517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定位地獄 (Positioning Hell)</a:t>
            </a:r>
            <a:endParaRPr lang="en-US" sz="1193" dirty="0"/>
          </a:p>
        </p:txBody>
      </p:sp>
      <p:sp>
        <p:nvSpPr>
          <p:cNvPr id="12" name="Text 9"/>
          <p:cNvSpPr/>
          <p:nvPr/>
        </p:nvSpPr>
        <p:spPr>
          <a:xfrm>
            <a:off x="357188" y="2272382"/>
            <a:ext cx="2943225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CCCCCC">
                    <a:alpha val="90000"/>
                  </a:srgbClr>
                </a:solidFill>
              </a:rPr>
              <a:t>彈出式視窗常受 overflow: hidden 裁切或 z-index 堆疊干擾，難以實現可靠定位。</a:t>
            </a:r>
            <a:endParaRPr lang="en-US" sz="942" dirty="0"/>
          </a:p>
        </p:txBody>
      </p:sp>
      <p:sp>
        <p:nvSpPr>
          <p:cNvPr id="13" name="Text 10"/>
          <p:cNvSpPr/>
          <p:nvPr/>
        </p:nvSpPr>
        <p:spPr>
          <a:xfrm>
            <a:off x="4014788" y="428625"/>
            <a:ext cx="4772025" cy="82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052CC"/>
                </a:solidFill>
              </a:rPr>
              <a:t>為何我們需要</a:t>
            </a:r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052CC"/>
                </a:solidFill>
              </a:rPr>
              <a:t>
</a:t>
            </a:r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052CC"/>
                </a:solidFill>
              </a:rPr>
              <a:t>這兩項技術？</a:t>
            </a:r>
            <a:endParaRPr lang="en-US" sz="2436" dirty="0"/>
          </a:p>
        </p:txBody>
      </p:sp>
      <p:sp>
        <p:nvSpPr>
          <p:cNvPr id="14" name="Shape 11"/>
          <p:cNvSpPr/>
          <p:nvPr/>
        </p:nvSpPr>
        <p:spPr>
          <a:xfrm>
            <a:off x="4014788" y="1394427"/>
            <a:ext cx="4772025" cy="47505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4014788" y="1840911"/>
            <a:ext cx="4772025" cy="28575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16" name="Text 13"/>
          <p:cNvSpPr/>
          <p:nvPr/>
        </p:nvSpPr>
        <p:spPr>
          <a:xfrm>
            <a:off x="4014788" y="1394427"/>
            <a:ext cx="4772025" cy="475059"/>
          </a:xfrm>
          <a:prstGeom prst="rect">
            <a:avLst/>
          </a:prstGeom>
          <a:noFill/>
          <a:ln/>
        </p:spPr>
        <p:txBody>
          <a:bodyPr wrap="square" lIns="0" tIns="0" rIns="0" bIns="136017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CSS 的原生解決方案</a:t>
            </a:r>
            <a:endParaRPr lang="en-US" sz="1602" dirty="0"/>
          </a:p>
        </p:txBody>
      </p:sp>
      <p:sp>
        <p:nvSpPr>
          <p:cNvPr id="17" name="Shape 14"/>
          <p:cNvSpPr/>
          <p:nvPr/>
        </p:nvSpPr>
        <p:spPr>
          <a:xfrm>
            <a:off x="4014788" y="1986465"/>
            <a:ext cx="228600" cy="228600"/>
          </a:xfrm>
          <a:prstGeom prst="ellipse">
            <a:avLst/>
          </a:prstGeom>
          <a:solidFill>
            <a:srgbClr val="0052CC"/>
          </a:solidFill>
          <a:ln/>
        </p:spPr>
      </p:sp>
      <p:sp>
        <p:nvSpPr>
          <p:cNvPr id="18" name="Text 15"/>
          <p:cNvSpPr/>
          <p:nvPr/>
        </p:nvSpPr>
        <p:spPr>
          <a:xfrm>
            <a:off x="4014788" y="1986465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A</a:t>
            </a:r>
            <a:endParaRPr lang="en-US" sz="784" dirty="0"/>
          </a:p>
        </p:txBody>
      </p:sp>
      <p:sp>
        <p:nvSpPr>
          <p:cNvPr id="19" name="Text 16"/>
          <p:cNvSpPr/>
          <p:nvPr/>
        </p:nvSpPr>
        <p:spPr>
          <a:xfrm>
            <a:off x="4329113" y="1983786"/>
            <a:ext cx="173972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</a:rPr>
              <a:t>View Transitions API</a:t>
            </a:r>
            <a:endParaRPr lang="en-US" sz="1193" dirty="0"/>
          </a:p>
        </p:txBody>
      </p:sp>
      <p:sp>
        <p:nvSpPr>
          <p:cNvPr id="20" name="Text 17"/>
          <p:cNvSpPr/>
          <p:nvPr/>
        </p:nvSpPr>
        <p:spPr>
          <a:xfrm>
            <a:off x="4014788" y="2303469"/>
            <a:ext cx="4772025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555555">
                    <a:alpha val="90000"/>
                  </a:srgbClr>
                </a:solidFill>
              </a:rPr>
              <a:t>讓 DOM 狀態變化如影片剪輯般無縫銜接，由瀏覽器原生處理複雜邏輯。</a:t>
            </a:r>
            <a:endParaRPr lang="en-US" sz="942" dirty="0"/>
          </a:p>
        </p:txBody>
      </p:sp>
      <p:sp>
        <p:nvSpPr>
          <p:cNvPr id="21" name="Shape 18"/>
          <p:cNvSpPr/>
          <p:nvPr/>
        </p:nvSpPr>
        <p:spPr>
          <a:xfrm>
            <a:off x="4014788" y="2654740"/>
            <a:ext cx="228600" cy="228600"/>
          </a:xfrm>
          <a:prstGeom prst="ellipse">
            <a:avLst/>
          </a:prstGeom>
          <a:solidFill>
            <a:srgbClr val="0052CC"/>
          </a:solidFill>
          <a:ln/>
        </p:spPr>
      </p:sp>
      <p:sp>
        <p:nvSpPr>
          <p:cNvPr id="22" name="Text 19"/>
          <p:cNvSpPr/>
          <p:nvPr/>
        </p:nvSpPr>
        <p:spPr>
          <a:xfrm>
            <a:off x="4014788" y="2654740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B</a:t>
            </a:r>
            <a:endParaRPr lang="en-US" sz="784" dirty="0"/>
          </a:p>
        </p:txBody>
      </p:sp>
      <p:sp>
        <p:nvSpPr>
          <p:cNvPr id="23" name="Text 20"/>
          <p:cNvSpPr/>
          <p:nvPr/>
        </p:nvSpPr>
        <p:spPr>
          <a:xfrm>
            <a:off x="4329113" y="2652061"/>
            <a:ext cx="196774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</a:rPr>
              <a:t>Anchor Positioning API</a:t>
            </a:r>
            <a:endParaRPr lang="en-US" sz="1193" dirty="0"/>
          </a:p>
        </p:txBody>
      </p:sp>
      <p:sp>
        <p:nvSpPr>
          <p:cNvPr id="24" name="Text 21"/>
          <p:cNvSpPr/>
          <p:nvPr/>
        </p:nvSpPr>
        <p:spPr>
          <a:xfrm>
            <a:off x="4014788" y="2971744"/>
            <a:ext cx="4772025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555555">
                    <a:alpha val="90000"/>
                  </a:srgbClr>
                </a:solidFill>
              </a:rPr>
              <a:t>讓元素如磁鐵般吸附，擺脫 DOM 結構束縛，徹底解決層級與裁切問題。</a:t>
            </a:r>
            <a:endParaRPr lang="en-US" sz="942" dirty="0"/>
          </a:p>
        </p:txBody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4788" y="4143375"/>
            <a:ext cx="4772025" cy="8572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8286750" cy="81974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28625" y="428625"/>
            <a:ext cx="57150" cy="819745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5" name="Text 2"/>
          <p:cNvSpPr/>
          <p:nvPr/>
        </p:nvSpPr>
        <p:spPr>
          <a:xfrm>
            <a:off x="642938" y="428625"/>
            <a:ext cx="8072438" cy="4982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A1A1A"/>
                </a:solidFill>
              </a:rPr>
              <a:t>View Transitions API - 基礎概念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642938" y="998339"/>
            <a:ext cx="8072438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555555"/>
                </a:solidFill>
              </a:rPr>
              <a:t>瀏覽器原生的流暢轉場機制</a:t>
            </a:r>
            <a:endParaRPr lang="en-US" sz="1269" dirty="0"/>
          </a:p>
        </p:txBody>
      </p:sp>
      <p:sp>
        <p:nvSpPr>
          <p:cNvPr id="7" name="Shape 4"/>
          <p:cNvSpPr/>
          <p:nvPr/>
        </p:nvSpPr>
        <p:spPr>
          <a:xfrm>
            <a:off x="428625" y="1391245"/>
            <a:ext cx="8286750" cy="907256"/>
          </a:xfrm>
          <a:prstGeom prst="rect">
            <a:avLst/>
          </a:prstGeom>
          <a:solidFill>
            <a:srgbClr val="FFFFFF"/>
          </a:solidFill>
          <a:ln w="9144">
            <a:solidFill>
              <a:srgbClr val="DDDDD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196647" y="1391245"/>
            <a:ext cx="267946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94" b="1" dirty="0">
                <a:solidFill>
                  <a:srgbClr val="E0E0E0"/>
                </a:solidFill>
              </a:rPr>
              <a:t>1</a:t>
            </a:r>
            <a:endParaRPr lang="en-US" sz="3294" dirty="0"/>
          </a:p>
        </p:txBody>
      </p:sp>
      <p:sp>
        <p:nvSpPr>
          <p:cNvPr id="9" name="Text 6"/>
          <p:cNvSpPr/>
          <p:nvPr/>
        </p:nvSpPr>
        <p:spPr>
          <a:xfrm>
            <a:off x="571500" y="1534120"/>
            <a:ext cx="1893094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52CC"/>
                </a:solidFill>
              </a:rPr>
              <a:t>舊畫面快照</a:t>
            </a:r>
            <a:endParaRPr lang="en-US" sz="987" dirty="0"/>
          </a:p>
        </p:txBody>
      </p:sp>
      <p:sp>
        <p:nvSpPr>
          <p:cNvPr id="10" name="Text 7"/>
          <p:cNvSpPr/>
          <p:nvPr/>
        </p:nvSpPr>
        <p:spPr>
          <a:xfrm>
            <a:off x="571500" y="1798439"/>
            <a:ext cx="189309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瀏覽器擷取當前頁面的視覺狀態作為起點。</a:t>
            </a:r>
            <a:endParaRPr lang="en-US" sz="834" dirty="0"/>
          </a:p>
        </p:txBody>
      </p:sp>
      <p:sp>
        <p:nvSpPr>
          <p:cNvPr id="11" name="Text 8"/>
          <p:cNvSpPr/>
          <p:nvPr/>
        </p:nvSpPr>
        <p:spPr>
          <a:xfrm>
            <a:off x="4232616" y="1391245"/>
            <a:ext cx="267946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94" b="1" dirty="0">
                <a:solidFill>
                  <a:srgbClr val="E0E0E0"/>
                </a:solidFill>
              </a:rPr>
              <a:t>2</a:t>
            </a:r>
            <a:endParaRPr lang="en-US" sz="3294" dirty="0"/>
          </a:p>
        </p:txBody>
      </p:sp>
      <p:sp>
        <p:nvSpPr>
          <p:cNvPr id="12" name="Text 9"/>
          <p:cNvSpPr/>
          <p:nvPr/>
        </p:nvSpPr>
        <p:spPr>
          <a:xfrm>
            <a:off x="2607469" y="1534120"/>
            <a:ext cx="1893094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52CC"/>
                </a:solidFill>
              </a:rPr>
              <a:t>DOM 更新</a:t>
            </a:r>
            <a:endParaRPr lang="en-US" sz="987" dirty="0"/>
          </a:p>
        </p:txBody>
      </p:sp>
      <p:sp>
        <p:nvSpPr>
          <p:cNvPr id="13" name="Text 10"/>
          <p:cNvSpPr/>
          <p:nvPr/>
        </p:nvSpPr>
        <p:spPr>
          <a:xfrm>
            <a:off x="2607469" y="1798439"/>
            <a:ext cx="189309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執行開發者提供的 DOM 更新邏輯（如切換內容）。</a:t>
            </a:r>
            <a:endParaRPr lang="en-US" sz="834" dirty="0"/>
          </a:p>
        </p:txBody>
      </p:sp>
      <p:sp>
        <p:nvSpPr>
          <p:cNvPr id="14" name="Text 11"/>
          <p:cNvSpPr/>
          <p:nvPr/>
        </p:nvSpPr>
        <p:spPr>
          <a:xfrm>
            <a:off x="6268585" y="1391245"/>
            <a:ext cx="267946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94" b="1" dirty="0">
                <a:solidFill>
                  <a:srgbClr val="E0E0E0"/>
                </a:solidFill>
              </a:rPr>
              <a:t>3</a:t>
            </a:r>
            <a:endParaRPr lang="en-US" sz="3294" dirty="0"/>
          </a:p>
        </p:txBody>
      </p:sp>
      <p:sp>
        <p:nvSpPr>
          <p:cNvPr id="15" name="Text 12"/>
          <p:cNvSpPr/>
          <p:nvPr/>
        </p:nvSpPr>
        <p:spPr>
          <a:xfrm>
            <a:off x="4643438" y="1534120"/>
            <a:ext cx="1893094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52CC"/>
                </a:solidFill>
              </a:rPr>
              <a:t>新畫面快照</a:t>
            </a:r>
            <a:endParaRPr lang="en-US" sz="987" dirty="0"/>
          </a:p>
        </p:txBody>
      </p:sp>
      <p:sp>
        <p:nvSpPr>
          <p:cNvPr id="16" name="Text 13"/>
          <p:cNvSpPr/>
          <p:nvPr/>
        </p:nvSpPr>
        <p:spPr>
          <a:xfrm>
            <a:off x="4643438" y="1798439"/>
            <a:ext cx="189309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DOM 更新後，立即擷取新頁面的視覺狀態。</a:t>
            </a:r>
            <a:endParaRPr lang="en-US" sz="834" dirty="0"/>
          </a:p>
        </p:txBody>
      </p:sp>
      <p:sp>
        <p:nvSpPr>
          <p:cNvPr id="17" name="Text 14"/>
          <p:cNvSpPr/>
          <p:nvPr/>
        </p:nvSpPr>
        <p:spPr>
          <a:xfrm>
            <a:off x="8304554" y="1391245"/>
            <a:ext cx="267946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94" b="1" dirty="0">
                <a:solidFill>
                  <a:srgbClr val="E0E0E0"/>
                </a:solidFill>
              </a:rPr>
              <a:t>4</a:t>
            </a:r>
            <a:endParaRPr lang="en-US" sz="3294" dirty="0"/>
          </a:p>
        </p:txBody>
      </p:sp>
      <p:sp>
        <p:nvSpPr>
          <p:cNvPr id="18" name="Text 15"/>
          <p:cNvSpPr/>
          <p:nvPr/>
        </p:nvSpPr>
        <p:spPr>
          <a:xfrm>
            <a:off x="6679406" y="1534120"/>
            <a:ext cx="1893094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52CC"/>
                </a:solidFill>
              </a:rPr>
              <a:t>自動動畫</a:t>
            </a:r>
            <a:endParaRPr lang="en-US" sz="987" dirty="0"/>
          </a:p>
        </p:txBody>
      </p:sp>
      <p:sp>
        <p:nvSpPr>
          <p:cNvPr id="19" name="Text 16"/>
          <p:cNvSpPr/>
          <p:nvPr/>
        </p:nvSpPr>
        <p:spPr>
          <a:xfrm>
            <a:off x="6679406" y="1798439"/>
            <a:ext cx="189309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在舊與新快照間自動生成平滑過渡（預設淡入淡出）。</a:t>
            </a:r>
            <a:endParaRPr lang="en-US" sz="834" dirty="0"/>
          </a:p>
        </p:txBody>
      </p:sp>
      <p:sp>
        <p:nvSpPr>
          <p:cNvPr id="20" name="Text 17"/>
          <p:cNvSpPr/>
          <p:nvPr/>
        </p:nvSpPr>
        <p:spPr>
          <a:xfrm>
            <a:off x="428625" y="2427089"/>
            <a:ext cx="407193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22" b="1" dirty="0">
                <a:solidFill>
                  <a:srgbClr val="1A1A1A"/>
                </a:solidFill>
              </a:rPr>
              <a:t>關鍵語法</a:t>
            </a:r>
            <a:endParaRPr lang="en-US" sz="922" dirty="0"/>
          </a:p>
        </p:txBody>
      </p:sp>
      <p:sp>
        <p:nvSpPr>
          <p:cNvPr id="21" name="Shape 18"/>
          <p:cNvSpPr/>
          <p:nvPr/>
        </p:nvSpPr>
        <p:spPr>
          <a:xfrm>
            <a:off x="428625" y="2707481"/>
            <a:ext cx="4071938" cy="49113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2" name="Shape 19"/>
          <p:cNvSpPr/>
          <p:nvPr/>
        </p:nvSpPr>
        <p:spPr>
          <a:xfrm>
            <a:off x="428625" y="2707481"/>
            <a:ext cx="28575" cy="491133"/>
          </a:xfrm>
          <a:prstGeom prst="rect">
            <a:avLst/>
          </a:prstGeom>
          <a:solidFill>
            <a:srgbClr val="FF4500"/>
          </a:solidFill>
          <a:ln/>
        </p:spPr>
      </p:sp>
      <p:sp>
        <p:nvSpPr>
          <p:cNvPr id="23" name="Text 20"/>
          <p:cNvSpPr/>
          <p:nvPr/>
        </p:nvSpPr>
        <p:spPr>
          <a:xfrm>
            <a:off x="428625" y="2707481"/>
            <a:ext cx="4071938" cy="49113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F2F2F2"/>
                </a:solidFill>
              </a:rPr>
              <a:t>document.startViewTransition(() =&gt; { // 在此處執行任何更新 DOM 的操作 updateTheDOM(); });</a:t>
            </a:r>
            <a:endParaRPr lang="en-US" sz="834" dirty="0"/>
          </a:p>
        </p:txBody>
      </p:sp>
      <p:sp>
        <p:nvSpPr>
          <p:cNvPr id="24" name="Text 21"/>
          <p:cNvSpPr/>
          <p:nvPr/>
        </p:nvSpPr>
        <p:spPr>
          <a:xfrm>
            <a:off x="428625" y="3298627"/>
            <a:ext cx="407193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22" b="1" dirty="0">
                <a:solidFill>
                  <a:srgbClr val="1A1A1A"/>
                </a:solidFill>
              </a:rPr>
              <a:t>偽元素樹結構</a:t>
            </a:r>
            <a:endParaRPr lang="en-US" sz="922" dirty="0"/>
          </a:p>
        </p:txBody>
      </p:sp>
      <p:sp>
        <p:nvSpPr>
          <p:cNvPr id="25" name="Shape 22"/>
          <p:cNvSpPr/>
          <p:nvPr/>
        </p:nvSpPr>
        <p:spPr>
          <a:xfrm>
            <a:off x="428625" y="3579019"/>
            <a:ext cx="4071938" cy="491468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26" name="Text 23"/>
          <p:cNvSpPr/>
          <p:nvPr/>
        </p:nvSpPr>
        <p:spPr>
          <a:xfrm>
            <a:off x="428625" y="3579019"/>
            <a:ext cx="4071938" cy="491468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::view-transition └─ ::view-transition-group(root) └─ ::view-transition-image-pair(root) ├─ ::view-transition-old(root) └─ ::view-transition-new(root)</a:t>
            </a:r>
            <a:endParaRPr lang="en-US" sz="727" dirty="0"/>
          </a:p>
        </p:txBody>
      </p:sp>
      <p:sp>
        <p:nvSpPr>
          <p:cNvPr id="27" name="Text 24"/>
          <p:cNvSpPr/>
          <p:nvPr/>
        </p:nvSpPr>
        <p:spPr>
          <a:xfrm>
            <a:off x="4643438" y="2427089"/>
            <a:ext cx="407193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22" b="1" dirty="0">
                <a:solidFill>
                  <a:srgbClr val="1A1A1A"/>
                </a:solidFill>
              </a:rPr>
              <a:t>視覺化原理</a:t>
            </a:r>
            <a:endParaRPr lang="en-US" sz="922" dirty="0"/>
          </a:p>
        </p:txBody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3438" y="2707481"/>
            <a:ext cx="4071938" cy="12858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8286750" cy="81974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28625" y="428625"/>
            <a:ext cx="57150" cy="819745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5" name="Text 2"/>
          <p:cNvSpPr/>
          <p:nvPr/>
        </p:nvSpPr>
        <p:spPr>
          <a:xfrm>
            <a:off x="642938" y="428625"/>
            <a:ext cx="8072438" cy="4982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spc="-1" kern="0" dirty="0">
                <a:solidFill>
                  <a:srgbClr val="1A1A1A"/>
                </a:solidFill>
              </a:rPr>
              <a:t>View Transitions - 精準控制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642938" y="998339"/>
            <a:ext cx="8072438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555555"/>
                </a:solidFill>
              </a:rPr>
              <a:t>創造如原生 App 般的「神奇移動」效果</a:t>
            </a:r>
            <a:endParaRPr lang="en-US" sz="1269" dirty="0"/>
          </a:p>
        </p:txBody>
      </p:sp>
      <p:sp>
        <p:nvSpPr>
          <p:cNvPr id="7" name="Shape 4"/>
          <p:cNvSpPr/>
          <p:nvPr/>
        </p:nvSpPr>
        <p:spPr>
          <a:xfrm>
            <a:off x="428625" y="1534120"/>
            <a:ext cx="2900363" cy="117871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5"/>
          <p:cNvSpPr/>
          <p:nvPr/>
        </p:nvSpPr>
        <p:spPr>
          <a:xfrm>
            <a:off x="428625" y="1534120"/>
            <a:ext cx="2900363" cy="28575"/>
          </a:xfrm>
          <a:prstGeom prst="rect">
            <a:avLst/>
          </a:prstGeom>
          <a:solidFill>
            <a:srgbClr val="FF4500"/>
          </a:solidFill>
          <a:ln/>
        </p:spPr>
      </p:sp>
      <p:sp>
        <p:nvSpPr>
          <p:cNvPr id="9" name="Text 6"/>
          <p:cNvSpPr/>
          <p:nvPr/>
        </p:nvSpPr>
        <p:spPr>
          <a:xfrm>
            <a:off x="600075" y="1705570"/>
            <a:ext cx="2557463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識別關鍵元素</a:t>
            </a:r>
            <a:endParaRPr lang="en-US" sz="987" dirty="0"/>
          </a:p>
        </p:txBody>
      </p:sp>
      <p:sp>
        <p:nvSpPr>
          <p:cNvPr id="10" name="Text 7"/>
          <p:cNvSpPr/>
          <p:nvPr/>
        </p:nvSpPr>
        <p:spPr>
          <a:xfrm>
            <a:off x="600075" y="1998464"/>
            <a:ext cx="2557463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透過 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333333"/>
                </a:solidFill>
              </a:rPr>
              <a:t>view-transition-name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 為轉場前後的邏輯元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素賦予跨越 DOM 的穩定「身份證」。瀏覽器會自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動計算位置與尺寸變化，產生平滑補間動畫。</a:t>
            </a:r>
            <a:endParaRPr lang="en-US" sz="834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" y="2898577"/>
            <a:ext cx="2900363" cy="17145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743325" y="1537692"/>
            <a:ext cx="200025" cy="200025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13" name="Text 9"/>
          <p:cNvSpPr/>
          <p:nvPr/>
        </p:nvSpPr>
        <p:spPr>
          <a:xfrm>
            <a:off x="3743325" y="1537692"/>
            <a:ext cx="2000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1</a:t>
            </a:r>
            <a:endParaRPr lang="en-US" sz="683" dirty="0"/>
          </a:p>
        </p:txBody>
      </p:sp>
      <p:sp>
        <p:nvSpPr>
          <p:cNvPr id="14" name="Text 10"/>
          <p:cNvSpPr/>
          <p:nvPr/>
        </p:nvSpPr>
        <p:spPr>
          <a:xfrm>
            <a:off x="4029075" y="1534120"/>
            <a:ext cx="1278731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定義身份 (Identity)</a:t>
            </a:r>
            <a:endParaRPr lang="en-US" sz="987" dirty="0"/>
          </a:p>
        </p:txBody>
      </p:sp>
      <p:sp>
        <p:nvSpPr>
          <p:cNvPr id="15" name="Shape 11"/>
          <p:cNvSpPr/>
          <p:nvPr/>
        </p:nvSpPr>
        <p:spPr>
          <a:xfrm>
            <a:off x="3743325" y="1812727"/>
            <a:ext cx="4972050" cy="62865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6" name="Shape 12"/>
          <p:cNvSpPr/>
          <p:nvPr/>
        </p:nvSpPr>
        <p:spPr>
          <a:xfrm>
            <a:off x="3743325" y="1812727"/>
            <a:ext cx="28575" cy="628650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17" name="Text 13"/>
          <p:cNvSpPr/>
          <p:nvPr/>
        </p:nvSpPr>
        <p:spPr>
          <a:xfrm>
            <a:off x="3743325" y="1812727"/>
            <a:ext cx="4972050" cy="628650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FFD700"/>
                </a:solidFill>
              </a:rPr>
              <a:t>.thumbnail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F2F2F2"/>
                </a:solidFill>
              </a:rPr>
              <a:t> { 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FF4500"/>
                </a:solidFill>
              </a:rPr>
              <a:t>view-transition-name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F2F2F2"/>
                </a:solidFill>
              </a:rPr>
              <a:t>: 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AADDFF"/>
                </a:solidFill>
              </a:rPr>
              <a:t>product-image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F2F2F2"/>
                </a:solidFill>
              </a:rPr>
              <a:t>; } 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FFD700"/>
                </a:solidFill>
              </a:rPr>
              <a:t>.detail-image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F2F2F2"/>
                </a:solidFill>
              </a:rPr>
              <a:t> { 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FF4500"/>
                </a:solidFill>
              </a:rPr>
              <a:t>view-transition-name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F2F2F2"/>
                </a:solidFill>
              </a:rPr>
              <a:t>: 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AADDFF"/>
                </a:solidFill>
              </a:rPr>
              <a:t>product-image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F2F2F2"/>
                </a:solidFill>
              </a:rPr>
              <a:t>; }</a:t>
            </a:r>
            <a:endParaRPr lang="en-US" sz="780" dirty="0"/>
          </a:p>
        </p:txBody>
      </p:sp>
      <p:sp>
        <p:nvSpPr>
          <p:cNvPr id="18" name="Shape 14"/>
          <p:cNvSpPr/>
          <p:nvPr/>
        </p:nvSpPr>
        <p:spPr>
          <a:xfrm>
            <a:off x="3743325" y="2659261"/>
            <a:ext cx="200025" cy="200025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19" name="Text 15"/>
          <p:cNvSpPr/>
          <p:nvPr/>
        </p:nvSpPr>
        <p:spPr>
          <a:xfrm>
            <a:off x="3743325" y="2659261"/>
            <a:ext cx="2000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2</a:t>
            </a:r>
            <a:endParaRPr lang="en-US" sz="683" dirty="0"/>
          </a:p>
        </p:txBody>
      </p:sp>
      <p:sp>
        <p:nvSpPr>
          <p:cNvPr id="20" name="Text 16"/>
          <p:cNvSpPr/>
          <p:nvPr/>
        </p:nvSpPr>
        <p:spPr>
          <a:xfrm>
            <a:off x="4029075" y="2655689"/>
            <a:ext cx="1739671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自訂動畫 (Customization)</a:t>
            </a:r>
            <a:endParaRPr lang="en-US" sz="987" dirty="0"/>
          </a:p>
        </p:txBody>
      </p:sp>
      <p:sp>
        <p:nvSpPr>
          <p:cNvPr id="21" name="Shape 17"/>
          <p:cNvSpPr/>
          <p:nvPr/>
        </p:nvSpPr>
        <p:spPr>
          <a:xfrm>
            <a:off x="3743325" y="2934295"/>
            <a:ext cx="4972050" cy="8001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2" name="Shape 18"/>
          <p:cNvSpPr/>
          <p:nvPr/>
        </p:nvSpPr>
        <p:spPr>
          <a:xfrm>
            <a:off x="3743325" y="2934295"/>
            <a:ext cx="28575" cy="800100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23" name="Text 19"/>
          <p:cNvSpPr/>
          <p:nvPr/>
        </p:nvSpPr>
        <p:spPr>
          <a:xfrm>
            <a:off x="3743325" y="2934295"/>
            <a:ext cx="4972050" cy="800100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888888"/>
                </a:solidFill>
              </a:rPr>
              <a:t>/* 控制舊狀態快照 */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FFD700"/>
                </a:solidFill>
              </a:rPr>
              <a:t>::view-transition-old(product-image)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F2F2F2"/>
                </a:solidFill>
              </a:rPr>
              <a:t> { 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FF4500"/>
                </a:solidFill>
              </a:rPr>
              <a:t>animation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F2F2F2"/>
                </a:solidFill>
              </a:rPr>
              <a:t>: 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AADDFF"/>
                </a:solidFill>
              </a:rPr>
              <a:t>slide-out 0.3s ease-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AADDFF"/>
                </a:solidFill>
              </a:rPr>
              <a:t>out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F2F2F2"/>
                </a:solidFill>
              </a:rPr>
              <a:t>; } 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888888"/>
                </a:solidFill>
              </a:rPr>
              <a:t>/* 控制新狀態快照 */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FFD700"/>
                </a:solidFill>
              </a:rPr>
              <a:t>::view-transition-new(product-image)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F2F2F2"/>
                </a:solidFill>
              </a:rPr>
              <a:t> { 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FF4500"/>
                </a:solidFill>
              </a:rPr>
              <a:t>animation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F2F2F2"/>
                </a:solidFill>
              </a:rPr>
              <a:t>: 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AADDFF"/>
                </a:solidFill>
              </a:rPr>
              <a:t>slide-in 0.3s 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AADDFF"/>
                </a:solidFill>
              </a:rPr>
              <a:t>ease-in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F2F2F2"/>
                </a:solidFill>
              </a:rPr>
              <a:t>; }</a:t>
            </a:r>
            <a:endParaRPr lang="en-US" sz="7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8286750" cy="81974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28625" y="428625"/>
            <a:ext cx="57150" cy="819745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5" name="Text 2"/>
          <p:cNvSpPr/>
          <p:nvPr/>
        </p:nvSpPr>
        <p:spPr>
          <a:xfrm>
            <a:off x="642938" y="428625"/>
            <a:ext cx="8072438" cy="4982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A1A1A"/>
                </a:solidFill>
              </a:rPr>
              <a:t>跨頁面過渡 (Multi-page Apps)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642938" y="998339"/>
            <a:ext cx="8072438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555555"/>
                </a:solidFill>
              </a:rPr>
              <a:t>一行 CSS 讓傳統網站也能流暢轉場</a:t>
            </a:r>
            <a:endParaRPr lang="en-US" sz="1269" dirty="0"/>
          </a:p>
        </p:txBody>
      </p:sp>
      <p:sp>
        <p:nvSpPr>
          <p:cNvPr id="7" name="Shape 4"/>
          <p:cNvSpPr/>
          <p:nvPr/>
        </p:nvSpPr>
        <p:spPr>
          <a:xfrm>
            <a:off x="428625" y="1319808"/>
            <a:ext cx="8286750" cy="15730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8" name="Shape 5"/>
          <p:cNvSpPr/>
          <p:nvPr/>
        </p:nvSpPr>
        <p:spPr>
          <a:xfrm>
            <a:off x="428625" y="1319808"/>
            <a:ext cx="57150" cy="1573020"/>
          </a:xfrm>
          <a:prstGeom prst="rect">
            <a:avLst/>
          </a:prstGeom>
          <a:solidFill>
            <a:srgbClr val="FF4500"/>
          </a:solidFill>
          <a:ln/>
        </p:spPr>
      </p:sp>
      <p:sp>
        <p:nvSpPr>
          <p:cNvPr id="9" name="Text 6"/>
          <p:cNvSpPr/>
          <p:nvPr/>
        </p:nvSpPr>
        <p:spPr>
          <a:xfrm>
            <a:off x="571500" y="1462683"/>
            <a:ext cx="80010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FF4500"/>
                </a:solidFill>
              </a:rPr>
              <a:t>Enable View Transitions for MPA</a:t>
            </a:r>
            <a:endParaRPr lang="en-US" sz="683" dirty="0"/>
          </a:p>
        </p:txBody>
      </p:sp>
      <p:sp>
        <p:nvSpPr>
          <p:cNvPr id="10" name="Text 7"/>
          <p:cNvSpPr/>
          <p:nvPr/>
        </p:nvSpPr>
        <p:spPr>
          <a:xfrm>
            <a:off x="571500" y="1669852"/>
            <a:ext cx="8001000" cy="1080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924" dirty="0">
                <a:solidFill>
                  <a:srgbClr val="FF79C6"/>
                </a:solidFill>
              </a:rPr>
              <a:t>@view-transition</a:t>
            </a:r>
            <a:pPr algn="l" indent="0" marL="0">
              <a:lnSpc>
                <a:spcPts val="2800"/>
              </a:lnSpc>
              <a:buNone/>
            </a:pPr>
            <a:r>
              <a:rPr lang="en-US" sz="1924" dirty="0">
                <a:solidFill>
                  <a:srgbClr val="FFFFFF"/>
                </a:solidFill>
              </a:rPr>
              <a:t> {</a:t>
            </a:r>
            <a:pPr algn="l" indent="0" marL="0">
              <a:lnSpc>
                <a:spcPts val="2800"/>
              </a:lnSpc>
              <a:buNone/>
            </a:pPr>
            <a:r>
              <a:rPr lang="en-US" sz="1924" dirty="0">
                <a:solidFill>
                  <a:srgbClr val="FFFFFF"/>
                </a:solidFill>
              </a:rPr>
              <a:t>
</a:t>
            </a:r>
            <a:pPr algn="l" indent="0" marL="0">
              <a:lnSpc>
                <a:spcPts val="2800"/>
              </a:lnSpc>
              <a:buNone/>
            </a:pPr>
            <a:r>
              <a:rPr lang="en-US" sz="1924" dirty="0">
                <a:solidFill>
                  <a:srgbClr val="8BE9FD"/>
                </a:solidFill>
              </a:rPr>
              <a:t>navigation</a:t>
            </a:r>
            <a:pPr algn="l" indent="0" marL="0">
              <a:lnSpc>
                <a:spcPts val="2800"/>
              </a:lnSpc>
              <a:buNone/>
            </a:pPr>
            <a:r>
              <a:rPr lang="en-US" sz="1924" dirty="0">
                <a:solidFill>
                  <a:srgbClr val="FFFFFF"/>
                </a:solidFill>
              </a:rPr>
              <a:t>: </a:t>
            </a:r>
            <a:pPr algn="l" indent="0" marL="0">
              <a:lnSpc>
                <a:spcPts val="2800"/>
              </a:lnSpc>
              <a:buNone/>
            </a:pPr>
            <a:r>
              <a:rPr lang="en-US" sz="1924" dirty="0">
                <a:solidFill>
                  <a:srgbClr val="F1FA8C"/>
                </a:solidFill>
              </a:rPr>
              <a:t>auto</a:t>
            </a:r>
            <a:pPr algn="l" indent="0" marL="0">
              <a:lnSpc>
                <a:spcPts val="2800"/>
              </a:lnSpc>
              <a:buNone/>
            </a:pPr>
            <a:r>
              <a:rPr lang="en-US" sz="1924" dirty="0">
                <a:solidFill>
                  <a:srgbClr val="FFFFFF"/>
                </a:solidFill>
              </a:rPr>
              <a:t>;</a:t>
            </a:r>
            <a:pPr algn="l" indent="0" marL="0">
              <a:lnSpc>
                <a:spcPts val="2800"/>
              </a:lnSpc>
              <a:buNone/>
            </a:pPr>
            <a:r>
              <a:rPr lang="en-US" sz="1924" dirty="0">
                <a:solidFill>
                  <a:srgbClr val="FFFFFF"/>
                </a:solidFill>
              </a:rPr>
              <a:t>
</a:t>
            </a:r>
            <a:pPr algn="l" indent="0" marL="0">
              <a:lnSpc>
                <a:spcPts val="2800"/>
              </a:lnSpc>
              <a:buNone/>
            </a:pPr>
            <a:r>
              <a:rPr lang="en-US" sz="1924" dirty="0">
                <a:solidFill>
                  <a:srgbClr val="FFFFFF"/>
                </a:solidFill>
              </a:rPr>
              <a:t> }</a:t>
            </a:r>
            <a:endParaRPr lang="en-US" sz="1924" dirty="0"/>
          </a:p>
        </p:txBody>
      </p:sp>
      <p:sp>
        <p:nvSpPr>
          <p:cNvPr id="11" name="Text 8"/>
          <p:cNvSpPr/>
          <p:nvPr/>
        </p:nvSpPr>
        <p:spPr>
          <a:xfrm>
            <a:off x="428625" y="2964266"/>
            <a:ext cx="4000500" cy="335756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52CC"/>
                </a:solidFill>
              </a:rPr>
              <a:t>核心優勢</a:t>
            </a:r>
            <a:endParaRPr lang="en-US" sz="1193" dirty="0"/>
          </a:p>
        </p:txBody>
      </p:sp>
      <p:sp>
        <p:nvSpPr>
          <p:cNvPr id="12" name="Shape 9"/>
          <p:cNvSpPr/>
          <p:nvPr/>
        </p:nvSpPr>
        <p:spPr>
          <a:xfrm>
            <a:off x="428625" y="3485759"/>
            <a:ext cx="57150" cy="57150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13" name="Text 10"/>
          <p:cNvSpPr/>
          <p:nvPr/>
        </p:nvSpPr>
        <p:spPr>
          <a:xfrm>
            <a:off x="571500" y="3428609"/>
            <a:ext cx="148121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完全無需 JavaScript 介入</a:t>
            </a:r>
            <a:endParaRPr lang="en-US" sz="885" dirty="0"/>
          </a:p>
        </p:txBody>
      </p:sp>
      <p:sp>
        <p:nvSpPr>
          <p:cNvPr id="14" name="Text 11"/>
          <p:cNvSpPr/>
          <p:nvPr/>
        </p:nvSpPr>
        <p:spPr>
          <a:xfrm>
            <a:off x="571500" y="3634327"/>
            <a:ext cx="244319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瀏覽器自動處理快照擷取與頁面渲染流程。</a:t>
            </a:r>
            <a:endParaRPr lang="en-US" sz="942" dirty="0"/>
          </a:p>
        </p:txBody>
      </p:sp>
      <p:sp>
        <p:nvSpPr>
          <p:cNvPr id="15" name="Shape 12"/>
          <p:cNvSpPr/>
          <p:nvPr/>
        </p:nvSpPr>
        <p:spPr>
          <a:xfrm>
            <a:off x="428625" y="3968632"/>
            <a:ext cx="57150" cy="57150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16" name="Text 13"/>
          <p:cNvSpPr/>
          <p:nvPr/>
        </p:nvSpPr>
        <p:spPr>
          <a:xfrm>
            <a:off x="571500" y="3911482"/>
            <a:ext cx="102872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無縫銜接視覺狀態</a:t>
            </a:r>
            <a:endParaRPr lang="en-US" sz="885" dirty="0"/>
          </a:p>
        </p:txBody>
      </p:sp>
      <p:sp>
        <p:nvSpPr>
          <p:cNvPr id="17" name="Text 14"/>
          <p:cNvSpPr/>
          <p:nvPr/>
        </p:nvSpPr>
        <p:spPr>
          <a:xfrm>
            <a:off x="571500" y="4117200"/>
            <a:ext cx="270036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在舊頁面卸載前與新頁面繪製後自動建立過渡。</a:t>
            </a:r>
            <a:endParaRPr lang="en-US" sz="942" dirty="0"/>
          </a:p>
        </p:txBody>
      </p:sp>
      <p:sp>
        <p:nvSpPr>
          <p:cNvPr id="18" name="Shape 15"/>
          <p:cNvSpPr/>
          <p:nvPr/>
        </p:nvSpPr>
        <p:spPr>
          <a:xfrm>
            <a:off x="428625" y="4451505"/>
            <a:ext cx="57150" cy="57150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19" name="Text 16"/>
          <p:cNvSpPr/>
          <p:nvPr/>
        </p:nvSpPr>
        <p:spPr>
          <a:xfrm>
            <a:off x="571500" y="4394355"/>
            <a:ext cx="102872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提升傳統網站體驗</a:t>
            </a:r>
            <a:endParaRPr lang="en-US" sz="885" dirty="0"/>
          </a:p>
        </p:txBody>
      </p:sp>
      <p:sp>
        <p:nvSpPr>
          <p:cNvPr id="20" name="Text 17"/>
          <p:cNvSpPr/>
          <p:nvPr/>
        </p:nvSpPr>
        <p:spPr>
          <a:xfrm>
            <a:off x="571500" y="4600073"/>
            <a:ext cx="242826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讓 MPA 擁有媲美 SPA 的平滑感與連貫性。</a:t>
            </a:r>
            <a:endParaRPr lang="en-US" sz="942" dirty="0"/>
          </a:p>
        </p:txBody>
      </p:sp>
      <p:sp>
        <p:nvSpPr>
          <p:cNvPr id="21" name="Text 18"/>
          <p:cNvSpPr/>
          <p:nvPr/>
        </p:nvSpPr>
        <p:spPr>
          <a:xfrm>
            <a:off x="4714875" y="2964266"/>
            <a:ext cx="4000500" cy="335756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52CC"/>
                </a:solidFill>
              </a:rPr>
              <a:t>實際應用場景</a:t>
            </a:r>
            <a:endParaRPr lang="en-US" sz="1193" dirty="0"/>
          </a:p>
        </p:txBody>
      </p:sp>
      <p:sp>
        <p:nvSpPr>
          <p:cNvPr id="22" name="Shape 19"/>
          <p:cNvSpPr/>
          <p:nvPr/>
        </p:nvSpPr>
        <p:spPr>
          <a:xfrm>
            <a:off x="4714875" y="3485759"/>
            <a:ext cx="57150" cy="57150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23" name="Text 20"/>
          <p:cNvSpPr/>
          <p:nvPr/>
        </p:nvSpPr>
        <p:spPr>
          <a:xfrm>
            <a:off x="4857750" y="3428609"/>
            <a:ext cx="90014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部落格文章切換</a:t>
            </a:r>
            <a:endParaRPr lang="en-US" sz="885" dirty="0"/>
          </a:p>
        </p:txBody>
      </p:sp>
      <p:sp>
        <p:nvSpPr>
          <p:cNvPr id="24" name="Text 21"/>
          <p:cNvSpPr/>
          <p:nvPr/>
        </p:nvSpPr>
        <p:spPr>
          <a:xfrm>
            <a:off x="4857750" y="3634327"/>
            <a:ext cx="205742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列表頁點擊進入內文時的平滑過渡。</a:t>
            </a:r>
            <a:endParaRPr lang="en-US" sz="942" dirty="0"/>
          </a:p>
        </p:txBody>
      </p:sp>
      <p:sp>
        <p:nvSpPr>
          <p:cNvPr id="25" name="Shape 22"/>
          <p:cNvSpPr/>
          <p:nvPr/>
        </p:nvSpPr>
        <p:spPr>
          <a:xfrm>
            <a:off x="4714875" y="3968632"/>
            <a:ext cx="57150" cy="57150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26" name="Text 23"/>
          <p:cNvSpPr/>
          <p:nvPr/>
        </p:nvSpPr>
        <p:spPr>
          <a:xfrm>
            <a:off x="4857750" y="3911482"/>
            <a:ext cx="77155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電商商品瀏覽</a:t>
            </a:r>
            <a:endParaRPr lang="en-US" sz="885" dirty="0"/>
          </a:p>
        </p:txBody>
      </p:sp>
      <p:sp>
        <p:nvSpPr>
          <p:cNvPr id="27" name="Text 24"/>
          <p:cNvSpPr/>
          <p:nvPr/>
        </p:nvSpPr>
        <p:spPr>
          <a:xfrm>
            <a:off x="4857750" y="4117200"/>
            <a:ext cx="192884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從商品列表跳轉至詳細資訊頁面。</a:t>
            </a:r>
            <a:endParaRPr lang="en-US" sz="942" dirty="0"/>
          </a:p>
        </p:txBody>
      </p:sp>
      <p:sp>
        <p:nvSpPr>
          <p:cNvPr id="28" name="Shape 25"/>
          <p:cNvSpPr/>
          <p:nvPr/>
        </p:nvSpPr>
        <p:spPr>
          <a:xfrm>
            <a:off x="4714875" y="4451505"/>
            <a:ext cx="57150" cy="57150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29" name="Text 26"/>
          <p:cNvSpPr/>
          <p:nvPr/>
        </p:nvSpPr>
        <p:spPr>
          <a:xfrm>
            <a:off x="4857750" y="4394355"/>
            <a:ext cx="90014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文件與導航系統</a:t>
            </a:r>
            <a:endParaRPr lang="en-US" sz="885" dirty="0"/>
          </a:p>
        </p:txBody>
      </p:sp>
      <p:sp>
        <p:nvSpPr>
          <p:cNvPr id="30" name="Text 27"/>
          <p:cNvSpPr/>
          <p:nvPr/>
        </p:nvSpPr>
        <p:spPr>
          <a:xfrm>
            <a:off x="4857750" y="4600073"/>
            <a:ext cx="218601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章節之間的切換與導航狀態的連續性。</a:t>
            </a:r>
            <a:endParaRPr lang="en-US" sz="942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4557713" cy="720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1A1A1A"/>
                </a:solidFill>
              </a:rPr>
              <a:t>CSS Anchor Positioning</a:t>
            </a:r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1A1A1A"/>
                </a:solidFill>
              </a:rPr>
              <a:t>
</a:t>
            </a:r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1A1A1A"/>
                </a:solidFill>
              </a:rPr>
              <a:t>解決定位難題</a:t>
            </a:r>
            <a:endParaRPr lang="en-US" sz="2121" dirty="0"/>
          </a:p>
        </p:txBody>
      </p:sp>
      <p:sp>
        <p:nvSpPr>
          <p:cNvPr id="4" name="Text 1"/>
          <p:cNvSpPr/>
          <p:nvPr/>
        </p:nvSpPr>
        <p:spPr>
          <a:xfrm>
            <a:off x="428625" y="1220130"/>
            <a:ext cx="4557713" cy="421481"/>
          </a:xfrm>
          <a:prstGeom prst="rect">
            <a:avLst/>
          </a:prstGeom>
          <a:noFill/>
          <a:ln/>
        </p:spPr>
        <p:txBody>
          <a:bodyPr wrap="square" lIns="0" tIns="0" rIns="0" bIns="170053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0052CC"/>
                </a:solidFill>
              </a:rPr>
              <a:t>擺脫 DOM 結構束縛的革命性方案</a:t>
            </a:r>
            <a:endParaRPr lang="en-US" sz="1269" dirty="0"/>
          </a:p>
        </p:txBody>
      </p:sp>
      <p:sp>
        <p:nvSpPr>
          <p:cNvPr id="5" name="Text 2"/>
          <p:cNvSpPr/>
          <p:nvPr/>
        </p:nvSpPr>
        <p:spPr>
          <a:xfrm>
            <a:off x="428625" y="1998799"/>
            <a:ext cx="455771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1A1A"/>
                </a:solidFill>
              </a:rPr>
              <a:t>何謂『錨點定位』？</a:t>
            </a:r>
            <a:endParaRPr lang="en-US" sz="1090" dirty="0"/>
          </a:p>
        </p:txBody>
      </p:sp>
      <p:sp>
        <p:nvSpPr>
          <p:cNvPr id="6" name="Text 3"/>
          <p:cNvSpPr/>
          <p:nvPr/>
        </p:nvSpPr>
        <p:spPr>
          <a:xfrm>
            <a:off x="428625" y="2332769"/>
            <a:ext cx="4557713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just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其核心機制非常直觀：它允許一個絕對定位的元素（被定位者），與頁面上任何另一個元素（錨點）建立起邏輯上的關聯，無論它們在 DOM 樹中的層級或位置關係如何。就像用一條無形的線，將彈出視窗「綁」在觸發它的按鈕上。</a:t>
            </a:r>
            <a:endParaRPr lang="en-US" sz="942" dirty="0"/>
          </a:p>
        </p:txBody>
      </p:sp>
      <p:sp>
        <p:nvSpPr>
          <p:cNvPr id="7" name="Text 4"/>
          <p:cNvSpPr/>
          <p:nvPr/>
        </p:nvSpPr>
        <p:spPr>
          <a:xfrm>
            <a:off x="428625" y="3235672"/>
            <a:ext cx="455771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1A1A"/>
                </a:solidFill>
              </a:rPr>
              <a:t>擺脫層級束縛</a:t>
            </a:r>
            <a:endParaRPr lang="en-US" sz="1090" dirty="0"/>
          </a:p>
        </p:txBody>
      </p:sp>
      <p:sp>
        <p:nvSpPr>
          <p:cNvPr id="8" name="Text 5"/>
          <p:cNvSpPr/>
          <p:nvPr/>
        </p:nvSpPr>
        <p:spPr>
          <a:xfrm>
            <a:off x="428625" y="3569643"/>
            <a:ext cx="4557713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just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徹底解決了傳統定位方式的結構性限制。過去為了避免被父層 overflow: hidden 裁切，必須將元素移至 body 底層並依賴複雜 JS 計算。現在，即使被定位者在頁面最外層，也能精準對齊深埋在 DOM 中的錨點。</a:t>
            </a:r>
            <a:endParaRPr lang="en-US" sz="942" dirty="0"/>
          </a:p>
        </p:txBody>
      </p:sp>
      <p:sp>
        <p:nvSpPr>
          <p:cNvPr id="9" name="Shape 6"/>
          <p:cNvSpPr/>
          <p:nvPr/>
        </p:nvSpPr>
        <p:spPr>
          <a:xfrm>
            <a:off x="5400675" y="571500"/>
            <a:ext cx="3314700" cy="2143125"/>
          </a:xfrm>
          <a:prstGeom prst="rect">
            <a:avLst/>
          </a:prstGeom>
          <a:solidFill>
            <a:srgbClr val="FFFFFF"/>
          </a:solidFill>
          <a:ln w="9144">
            <a:solidFill>
              <a:srgbClr val="DDDDDD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5495" y="571500"/>
            <a:ext cx="2445060" cy="2143097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400675" y="3000375"/>
            <a:ext cx="1603772" cy="625776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2" name="Text 8"/>
          <p:cNvSpPr/>
          <p:nvPr/>
        </p:nvSpPr>
        <p:spPr>
          <a:xfrm>
            <a:off x="5543550" y="3143250"/>
            <a:ext cx="1318022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4500"/>
                </a:solidFill>
              </a:rPr>
              <a:t>無需 JS</a:t>
            </a:r>
            <a:endParaRPr lang="en-US" sz="784" dirty="0"/>
          </a:p>
        </p:txBody>
      </p:sp>
      <p:sp>
        <p:nvSpPr>
          <p:cNvPr id="13" name="Text 9"/>
          <p:cNvSpPr/>
          <p:nvPr/>
        </p:nvSpPr>
        <p:spPr>
          <a:xfrm>
            <a:off x="5543550" y="3343275"/>
            <a:ext cx="1318022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FFFFFF">
                    <a:alpha val="90000"/>
                  </a:srgbClr>
                </a:solidFill>
              </a:rPr>
              <a:t>純 CSS 解決方案，減少依賴</a:t>
            </a:r>
            <a:endParaRPr lang="en-US" sz="727" dirty="0"/>
          </a:p>
        </p:txBody>
      </p:sp>
      <p:sp>
        <p:nvSpPr>
          <p:cNvPr id="14" name="Shape 10"/>
          <p:cNvSpPr/>
          <p:nvPr/>
        </p:nvSpPr>
        <p:spPr>
          <a:xfrm>
            <a:off x="7111603" y="3000375"/>
            <a:ext cx="1603772" cy="625776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5" name="Text 11"/>
          <p:cNvSpPr/>
          <p:nvPr/>
        </p:nvSpPr>
        <p:spPr>
          <a:xfrm>
            <a:off x="7254478" y="3143250"/>
            <a:ext cx="1318022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4500"/>
                </a:solidFill>
              </a:rPr>
              <a:t>自動更新</a:t>
            </a:r>
            <a:endParaRPr lang="en-US" sz="784" dirty="0"/>
          </a:p>
        </p:txBody>
      </p:sp>
      <p:sp>
        <p:nvSpPr>
          <p:cNvPr id="16" name="Text 12"/>
          <p:cNvSpPr/>
          <p:nvPr/>
        </p:nvSpPr>
        <p:spPr>
          <a:xfrm>
            <a:off x="7254478" y="3343275"/>
            <a:ext cx="1318022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FFFFFF">
                    <a:alpha val="90000"/>
                  </a:srgbClr>
                </a:solidFill>
              </a:rPr>
              <a:t>捲動縮放時自動跟隨</a:t>
            </a:r>
            <a:endParaRPr lang="en-US" sz="727" dirty="0"/>
          </a:p>
        </p:txBody>
      </p:sp>
      <p:sp>
        <p:nvSpPr>
          <p:cNvPr id="17" name="Shape 13"/>
          <p:cNvSpPr/>
          <p:nvPr/>
        </p:nvSpPr>
        <p:spPr>
          <a:xfrm>
            <a:off x="5400675" y="3733307"/>
            <a:ext cx="1603772" cy="625776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8" name="Text 14"/>
          <p:cNvSpPr/>
          <p:nvPr/>
        </p:nvSpPr>
        <p:spPr>
          <a:xfrm>
            <a:off x="5543550" y="3876182"/>
            <a:ext cx="1318022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4500"/>
                </a:solidFill>
              </a:rPr>
              <a:t>突破限制</a:t>
            </a:r>
            <a:endParaRPr lang="en-US" sz="784" dirty="0"/>
          </a:p>
        </p:txBody>
      </p:sp>
      <p:sp>
        <p:nvSpPr>
          <p:cNvPr id="19" name="Text 15"/>
          <p:cNvSpPr/>
          <p:nvPr/>
        </p:nvSpPr>
        <p:spPr>
          <a:xfrm>
            <a:off x="5543550" y="4076207"/>
            <a:ext cx="1318022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FFFFFF">
                    <a:alpha val="90000"/>
                  </a:srgbClr>
                </a:solidFill>
              </a:rPr>
              <a:t>不受 DOM 層級與裁切影響</a:t>
            </a:r>
            <a:endParaRPr lang="en-US" sz="727" dirty="0"/>
          </a:p>
        </p:txBody>
      </p:sp>
      <p:sp>
        <p:nvSpPr>
          <p:cNvPr id="20" name="Shape 16"/>
          <p:cNvSpPr/>
          <p:nvPr/>
        </p:nvSpPr>
        <p:spPr>
          <a:xfrm>
            <a:off x="7111603" y="3733307"/>
            <a:ext cx="1603772" cy="625776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1" name="Text 17"/>
          <p:cNvSpPr/>
          <p:nvPr/>
        </p:nvSpPr>
        <p:spPr>
          <a:xfrm>
            <a:off x="7254478" y="3876182"/>
            <a:ext cx="1318022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4500"/>
                </a:solidFill>
              </a:rPr>
              <a:t>效能優異</a:t>
            </a:r>
            <a:endParaRPr lang="en-US" sz="784" dirty="0"/>
          </a:p>
        </p:txBody>
      </p:sp>
      <p:sp>
        <p:nvSpPr>
          <p:cNvPr id="22" name="Text 18"/>
          <p:cNvSpPr/>
          <p:nvPr/>
        </p:nvSpPr>
        <p:spPr>
          <a:xfrm>
            <a:off x="7254478" y="4076207"/>
            <a:ext cx="1318022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FFFFFF">
                    <a:alpha val="90000"/>
                  </a:srgbClr>
                </a:solidFill>
              </a:rPr>
              <a:t>瀏覽器原生優化渲染</a:t>
            </a:r>
            <a:endParaRPr lang="en-US" sz="727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8286750" cy="81974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28625" y="428625"/>
            <a:ext cx="57150" cy="819745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5" name="Text 2"/>
          <p:cNvSpPr/>
          <p:nvPr/>
        </p:nvSpPr>
        <p:spPr>
          <a:xfrm>
            <a:off x="642938" y="428625"/>
            <a:ext cx="8072438" cy="4982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A1A1A"/>
                </a:solidFill>
              </a:rPr>
              <a:t>Anchor Positioning - 語法實戰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642938" y="998339"/>
            <a:ext cx="8072438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555555"/>
                </a:solidFill>
              </a:rPr>
              <a:t>聲明式語法讓複雜定位變得簡單</a:t>
            </a:r>
            <a:endParaRPr lang="en-US" sz="1269" dirty="0"/>
          </a:p>
        </p:txBody>
      </p:sp>
      <p:sp>
        <p:nvSpPr>
          <p:cNvPr id="7" name="Shape 4"/>
          <p:cNvSpPr/>
          <p:nvPr/>
        </p:nvSpPr>
        <p:spPr>
          <a:xfrm>
            <a:off x="428625" y="1462683"/>
            <a:ext cx="4557713" cy="1128713"/>
          </a:xfrm>
          <a:prstGeom prst="rect">
            <a:avLst/>
          </a:prstGeom>
          <a:solidFill>
            <a:srgbClr val="FFFFFF"/>
          </a:solidFill>
          <a:ln w="9144">
            <a:solidFill>
              <a:srgbClr val="DDDDD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14350" y="1548408"/>
            <a:ext cx="4386263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52CC"/>
                </a:solidFill>
              </a:rPr>
              <a:t>兩步驟實現 (Standard Approach)</a:t>
            </a:r>
            <a:endParaRPr lang="en-US" sz="885" dirty="0"/>
          </a:p>
        </p:txBody>
      </p:sp>
      <p:sp>
        <p:nvSpPr>
          <p:cNvPr id="9" name="Shape 6"/>
          <p:cNvSpPr/>
          <p:nvPr/>
        </p:nvSpPr>
        <p:spPr>
          <a:xfrm>
            <a:off x="514350" y="1794867"/>
            <a:ext cx="4386263" cy="696516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0" name="Shape 7"/>
          <p:cNvSpPr/>
          <p:nvPr/>
        </p:nvSpPr>
        <p:spPr>
          <a:xfrm>
            <a:off x="514350" y="1794867"/>
            <a:ext cx="28575" cy="696516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11" name="Text 8"/>
          <p:cNvSpPr/>
          <p:nvPr/>
        </p:nvSpPr>
        <p:spPr>
          <a:xfrm>
            <a:off x="514350" y="1794867"/>
            <a:ext cx="4386263" cy="696516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888888"/>
                </a:solidFill>
              </a:rPr>
              <a:t>/* 1. 定義錨點 */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F92672"/>
                </a:solidFill>
              </a:rPr>
              <a:t>.trigger-button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F2F2F2"/>
                </a:solidFill>
              </a:rPr>
              <a:t> { 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66D9EF"/>
                </a:solidFill>
              </a:rPr>
              <a:t>anchor-name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F2F2F2"/>
                </a:solidFill>
              </a:rPr>
              <a:t>: 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A6E22E"/>
                </a:solidFill>
              </a:rPr>
              <a:t>--my-btn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F2F2F2"/>
                </a:solidFill>
              </a:rPr>
              <a:t>; } 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888888"/>
                </a:solidFill>
              </a:rPr>
              <a:t>/* 2. 關聯與定位 */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F92672"/>
                </a:solidFill>
              </a:rPr>
              <a:t>.tooltip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F2F2F2"/>
                </a:solidFill>
              </a:rPr>
              <a:t> { 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66D9EF"/>
                </a:solidFill>
              </a:rPr>
              <a:t>position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F2F2F2"/>
                </a:solidFill>
              </a:rPr>
              <a:t>: 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A6E22E"/>
                </a:solidFill>
              </a:rPr>
              <a:t>absolute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F2F2F2"/>
                </a:solidFill>
              </a:rPr>
              <a:t>; 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66D9EF"/>
                </a:solidFill>
              </a:rPr>
              <a:t>position-anchor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F2F2F2"/>
                </a:solidFill>
              </a:rPr>
              <a:t>: 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A6E22E"/>
                </a:solidFill>
              </a:rPr>
              <a:t>--my-btn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F2F2F2"/>
                </a:solidFill>
              </a:rPr>
              <a:t>; 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888888"/>
                </a:solidFill>
              </a:rPr>
              <a:t>/* 將 tooltip 底部對齊按鈕頂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888888"/>
                </a:solidFill>
              </a:rPr>
              <a:t>部 */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66D9EF"/>
                </a:solidFill>
              </a:rPr>
              <a:t>bottom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F2F2F2"/>
                </a:solidFill>
              </a:rPr>
              <a:t>: 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A6E22E"/>
                </a:solidFill>
              </a:rPr>
              <a:t>anchor(top)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F2F2F2"/>
                </a:solidFill>
              </a:rPr>
              <a:t>; 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66D9EF"/>
                </a:solidFill>
              </a:rPr>
              <a:t>justify-self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F2F2F2"/>
                </a:solidFill>
              </a:rPr>
              <a:t>: 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A6E22E"/>
                </a:solidFill>
              </a:rPr>
              <a:t>anchor-center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F2F2F2"/>
                </a:solidFill>
              </a:rPr>
              <a:t>; }</a:t>
            </a:r>
            <a:endParaRPr lang="en-US" sz="780" dirty="0"/>
          </a:p>
        </p:txBody>
      </p:sp>
      <p:sp>
        <p:nvSpPr>
          <p:cNvPr id="12" name="Shape 9"/>
          <p:cNvSpPr/>
          <p:nvPr/>
        </p:nvSpPr>
        <p:spPr>
          <a:xfrm>
            <a:off x="428625" y="2705695"/>
            <a:ext cx="4557713" cy="967978"/>
          </a:xfrm>
          <a:prstGeom prst="rect">
            <a:avLst/>
          </a:prstGeom>
          <a:solidFill>
            <a:srgbClr val="FFFFFF"/>
          </a:solidFill>
          <a:ln w="9144">
            <a:solidFill>
              <a:srgbClr val="DDDDD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14350" y="2791420"/>
            <a:ext cx="4386263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52CC"/>
                </a:solidFill>
              </a:rPr>
              <a:t>快速定位 (Position Area)</a:t>
            </a:r>
            <a:endParaRPr lang="en-US" sz="885" dirty="0"/>
          </a:p>
        </p:txBody>
      </p:sp>
      <p:sp>
        <p:nvSpPr>
          <p:cNvPr id="14" name="Shape 11"/>
          <p:cNvSpPr/>
          <p:nvPr/>
        </p:nvSpPr>
        <p:spPr>
          <a:xfrm>
            <a:off x="514350" y="3037880"/>
            <a:ext cx="4386263" cy="535781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5" name="Shape 12"/>
          <p:cNvSpPr/>
          <p:nvPr/>
        </p:nvSpPr>
        <p:spPr>
          <a:xfrm>
            <a:off x="514350" y="3037880"/>
            <a:ext cx="28575" cy="535781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16" name="Text 13"/>
          <p:cNvSpPr/>
          <p:nvPr/>
        </p:nvSpPr>
        <p:spPr>
          <a:xfrm>
            <a:off x="514350" y="3037880"/>
            <a:ext cx="4386263" cy="535781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F92672"/>
                </a:solidFill>
              </a:rPr>
              <a:t>.tooltip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F2F2F2"/>
                </a:solidFill>
              </a:rPr>
              <a:t> { 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66D9EF"/>
                </a:solidFill>
              </a:rPr>
              <a:t>position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F2F2F2"/>
                </a:solidFill>
              </a:rPr>
              <a:t>: 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A6E22E"/>
                </a:solidFill>
              </a:rPr>
              <a:t>absolute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F2F2F2"/>
                </a:solidFill>
              </a:rPr>
              <a:t>; 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66D9EF"/>
                </a:solidFill>
              </a:rPr>
              <a:t>position-anchor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F2F2F2"/>
                </a:solidFill>
              </a:rPr>
              <a:t>: 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A6E22E"/>
                </a:solidFill>
              </a:rPr>
              <a:t>--my-btn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F2F2F2"/>
                </a:solidFill>
              </a:rPr>
              <a:t>; 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888888"/>
                </a:solidFill>
              </a:rPr>
              <a:t>/* 使用 9 格網格系統快速定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888888"/>
                </a:solidFill>
              </a:rPr>
              <a:t>位 */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66D9EF"/>
                </a:solidFill>
              </a:rPr>
              <a:t>position-area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F2F2F2"/>
                </a:solidFill>
              </a:rPr>
              <a:t>: 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A6E22E"/>
                </a:solidFill>
              </a:rPr>
              <a:t>top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F2F2F2"/>
                </a:solidFill>
              </a:rPr>
              <a:t>; }</a:t>
            </a:r>
            <a:endParaRPr lang="en-US" sz="780" dirty="0"/>
          </a:p>
        </p:txBody>
      </p:sp>
      <p:sp>
        <p:nvSpPr>
          <p:cNvPr id="17" name="Shape 14"/>
          <p:cNvSpPr/>
          <p:nvPr/>
        </p:nvSpPr>
        <p:spPr>
          <a:xfrm>
            <a:off x="5400675" y="1462683"/>
            <a:ext cx="3314700" cy="1814513"/>
          </a:xfrm>
          <a:prstGeom prst="rect">
            <a:avLst/>
          </a:prstGeom>
          <a:solidFill>
            <a:srgbClr val="FFFFFF"/>
          </a:solidFill>
          <a:ln w="9144">
            <a:solidFill>
              <a:srgbClr val="DDDDDD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675" y="1462683"/>
            <a:ext cx="3314700" cy="1814513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400675" y="3362920"/>
            <a:ext cx="3314700" cy="1289447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20" name="Text 16"/>
          <p:cNvSpPr/>
          <p:nvPr/>
        </p:nvSpPr>
        <p:spPr>
          <a:xfrm>
            <a:off x="5486400" y="3448645"/>
            <a:ext cx="3143250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52CC"/>
                </a:solidFill>
              </a:rPr>
              <a:t>內建優勢</a:t>
            </a:r>
            <a:endParaRPr lang="en-US" sz="885" dirty="0"/>
          </a:p>
        </p:txBody>
      </p:sp>
      <p:sp>
        <p:nvSpPr>
          <p:cNvPr id="21" name="Text 17"/>
          <p:cNvSpPr/>
          <p:nvPr/>
        </p:nvSpPr>
        <p:spPr>
          <a:xfrm>
            <a:off x="5486400" y="3680817"/>
            <a:ext cx="82628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52CC"/>
                </a:solidFill>
              </a:rPr>
              <a:t>✓</a:t>
            </a:r>
            <a:endParaRPr lang="en-US" sz="784" dirty="0"/>
          </a:p>
        </p:txBody>
      </p:sp>
      <p:sp>
        <p:nvSpPr>
          <p:cNvPr id="22" name="Text 18"/>
          <p:cNvSpPr/>
          <p:nvPr/>
        </p:nvSpPr>
        <p:spPr>
          <a:xfrm>
            <a:off x="5629275" y="3689747"/>
            <a:ext cx="12573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瀏覽器自動處理位置更新</a:t>
            </a:r>
            <a:endParaRPr lang="en-US" sz="834" dirty="0"/>
          </a:p>
        </p:txBody>
      </p:sp>
      <p:sp>
        <p:nvSpPr>
          <p:cNvPr id="23" name="Text 19"/>
          <p:cNvSpPr/>
          <p:nvPr/>
        </p:nvSpPr>
        <p:spPr>
          <a:xfrm>
            <a:off x="5486400" y="3902273"/>
            <a:ext cx="82628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52CC"/>
                </a:solidFill>
              </a:rPr>
              <a:t>✓</a:t>
            </a:r>
            <a:endParaRPr lang="en-US" sz="784" dirty="0"/>
          </a:p>
        </p:txBody>
      </p:sp>
      <p:sp>
        <p:nvSpPr>
          <p:cNvPr id="24" name="Text 20"/>
          <p:cNvSpPr/>
          <p:nvPr/>
        </p:nvSpPr>
        <p:spPr>
          <a:xfrm>
            <a:off x="5629275" y="3911203"/>
            <a:ext cx="154762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無需監聽 Scroll 或 Resize 事件</a:t>
            </a:r>
            <a:endParaRPr lang="en-US" sz="834" dirty="0"/>
          </a:p>
        </p:txBody>
      </p:sp>
      <p:sp>
        <p:nvSpPr>
          <p:cNvPr id="25" name="Text 21"/>
          <p:cNvSpPr/>
          <p:nvPr/>
        </p:nvSpPr>
        <p:spPr>
          <a:xfrm>
            <a:off x="5486400" y="4123730"/>
            <a:ext cx="82628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52CC"/>
                </a:solidFill>
              </a:rPr>
              <a:t>✓</a:t>
            </a:r>
            <a:endParaRPr lang="en-US" sz="784" dirty="0"/>
          </a:p>
        </p:txBody>
      </p:sp>
      <p:sp>
        <p:nvSpPr>
          <p:cNvPr id="26" name="Text 22"/>
          <p:cNvSpPr/>
          <p:nvPr/>
        </p:nvSpPr>
        <p:spPr>
          <a:xfrm>
            <a:off x="5629275" y="4132659"/>
            <a:ext cx="126863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完全無需 JavaScript 介入</a:t>
            </a:r>
            <a:endParaRPr lang="en-US" sz="834" dirty="0"/>
          </a:p>
        </p:txBody>
      </p:sp>
      <p:sp>
        <p:nvSpPr>
          <p:cNvPr id="27" name="Text 23"/>
          <p:cNvSpPr/>
          <p:nvPr/>
        </p:nvSpPr>
        <p:spPr>
          <a:xfrm>
            <a:off x="5486400" y="4345186"/>
            <a:ext cx="82628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52CC"/>
                </a:solidFill>
              </a:rPr>
              <a:t>✓</a:t>
            </a:r>
            <a:endParaRPr lang="en-US" sz="784" dirty="0"/>
          </a:p>
        </p:txBody>
      </p:sp>
      <p:sp>
        <p:nvSpPr>
          <p:cNvPr id="28" name="Text 24"/>
          <p:cNvSpPr/>
          <p:nvPr/>
        </p:nvSpPr>
        <p:spPr>
          <a:xfrm>
            <a:off x="5629275" y="4354116"/>
            <a:ext cx="10287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效能優異的原生實作</a:t>
            </a:r>
            <a:endParaRPr lang="en-US" sz="834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428625"/>
            <a:ext cx="8572500" cy="81974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85750" y="428625"/>
            <a:ext cx="57150" cy="819745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5" name="Text 2"/>
          <p:cNvSpPr/>
          <p:nvPr/>
        </p:nvSpPr>
        <p:spPr>
          <a:xfrm>
            <a:off x="500063" y="428625"/>
            <a:ext cx="8358188" cy="4982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A1A1A"/>
                </a:solidFill>
              </a:rPr>
              <a:t>動態自適應：Position Try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500063" y="998339"/>
            <a:ext cx="8358188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555555"/>
                </a:solidFill>
              </a:rPr>
              <a:t>智慧翻轉解決空間不足問題</a:t>
            </a:r>
            <a:endParaRPr lang="en-US" sz="1269" dirty="0"/>
          </a:p>
        </p:txBody>
      </p:sp>
      <p:sp>
        <p:nvSpPr>
          <p:cNvPr id="7" name="Shape 4"/>
          <p:cNvSpPr/>
          <p:nvPr/>
        </p:nvSpPr>
        <p:spPr>
          <a:xfrm>
            <a:off x="285750" y="1419820"/>
            <a:ext cx="3857625" cy="15358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5"/>
          <p:cNvSpPr/>
          <p:nvPr/>
        </p:nvSpPr>
        <p:spPr>
          <a:xfrm>
            <a:off x="285750" y="1419820"/>
            <a:ext cx="28575" cy="1535850"/>
          </a:xfrm>
          <a:prstGeom prst="rect">
            <a:avLst/>
          </a:prstGeom>
          <a:solidFill>
            <a:srgbClr val="FF4500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1591270"/>
            <a:ext cx="3514725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</a:rPr>
              <a:t>智慧翻轉 (Intelligent Flipping)</a:t>
            </a:r>
            <a:endParaRPr lang="en-US" sz="1193" dirty="0"/>
          </a:p>
        </p:txBody>
      </p:sp>
      <p:sp>
        <p:nvSpPr>
          <p:cNvPr id="10" name="Text 7"/>
          <p:cNvSpPr/>
          <p:nvPr/>
        </p:nvSpPr>
        <p:spPr>
          <a:xfrm>
            <a:off x="457200" y="1962745"/>
            <a:ext cx="340089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當瀏覽器檢測到定位元素（如 Tooltip）因空間不足而被遮擋</a:t>
            </a:r>
            <a:endParaRPr lang="en-US" sz="942" dirty="0"/>
          </a:p>
        </p:txBody>
      </p:sp>
      <p:sp>
        <p:nvSpPr>
          <p:cNvPr id="11" name="Text 8"/>
          <p:cNvSpPr/>
          <p:nvPr/>
        </p:nvSpPr>
        <p:spPr>
          <a:xfrm>
            <a:off x="457200" y="2168463"/>
            <a:ext cx="192884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時，會自動嘗試備用的定位策略。</a:t>
            </a:r>
            <a:endParaRPr lang="en-US" sz="942" dirty="0"/>
          </a:p>
        </p:txBody>
      </p:sp>
      <p:sp>
        <p:nvSpPr>
          <p:cNvPr id="12" name="Shape 9"/>
          <p:cNvSpPr/>
          <p:nvPr/>
        </p:nvSpPr>
        <p:spPr>
          <a:xfrm>
            <a:off x="457200" y="2467049"/>
            <a:ext cx="778669" cy="245734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13" name="Text 10"/>
          <p:cNvSpPr/>
          <p:nvPr/>
        </p:nvSpPr>
        <p:spPr>
          <a:xfrm>
            <a:off x="457200" y="2467049"/>
            <a:ext cx="778669" cy="245734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0052CC"/>
                </a:solidFill>
              </a:rPr>
              <a:t>flip-block</a:t>
            </a:r>
            <a:endParaRPr lang="en-US" sz="683" dirty="0"/>
          </a:p>
        </p:txBody>
      </p:sp>
      <p:sp>
        <p:nvSpPr>
          <p:cNvPr id="14" name="Shape 11"/>
          <p:cNvSpPr/>
          <p:nvPr/>
        </p:nvSpPr>
        <p:spPr>
          <a:xfrm>
            <a:off x="1340765" y="2467049"/>
            <a:ext cx="839391" cy="245734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15" name="Text 12"/>
          <p:cNvSpPr/>
          <p:nvPr/>
        </p:nvSpPr>
        <p:spPr>
          <a:xfrm>
            <a:off x="1340765" y="2467049"/>
            <a:ext cx="839391" cy="245734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0052CC"/>
                </a:solidFill>
              </a:rPr>
              <a:t>flip-inline</a:t>
            </a:r>
            <a:endParaRPr lang="en-US" sz="683" dirty="0"/>
          </a:p>
        </p:txBody>
      </p:sp>
      <p:sp>
        <p:nvSpPr>
          <p:cNvPr id="16" name="Shape 13"/>
          <p:cNvSpPr/>
          <p:nvPr/>
        </p:nvSpPr>
        <p:spPr>
          <a:xfrm>
            <a:off x="2285051" y="2467049"/>
            <a:ext cx="778669" cy="245734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17" name="Text 14"/>
          <p:cNvSpPr/>
          <p:nvPr/>
        </p:nvSpPr>
        <p:spPr>
          <a:xfrm>
            <a:off x="2285051" y="2467049"/>
            <a:ext cx="778669" cy="245734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0052CC"/>
                </a:solidFill>
              </a:rPr>
              <a:t>flip-start</a:t>
            </a:r>
            <a:endParaRPr lang="en-US" sz="683" dirty="0"/>
          </a:p>
        </p:txBody>
      </p:sp>
      <p:sp>
        <p:nvSpPr>
          <p:cNvPr id="18" name="Shape 15"/>
          <p:cNvSpPr/>
          <p:nvPr/>
        </p:nvSpPr>
        <p:spPr>
          <a:xfrm>
            <a:off x="285750" y="3127121"/>
            <a:ext cx="3857625" cy="1444377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9" name="Text 16"/>
          <p:cNvSpPr/>
          <p:nvPr/>
        </p:nvSpPr>
        <p:spPr>
          <a:xfrm>
            <a:off x="457200" y="3298571"/>
            <a:ext cx="3514725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4500"/>
                </a:solidFill>
              </a:rPr>
              <a:t>告別 Popper.js</a:t>
            </a:r>
            <a:endParaRPr lang="en-US" sz="987" dirty="0"/>
          </a:p>
        </p:txBody>
      </p:sp>
      <p:sp>
        <p:nvSpPr>
          <p:cNvPr id="20" name="Text 17"/>
          <p:cNvSpPr/>
          <p:nvPr/>
        </p:nvSpPr>
        <p:spPr>
          <a:xfrm>
            <a:off x="457200" y="3577177"/>
            <a:ext cx="3514725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CCCCCC"/>
                </a:solidFill>
              </a:rPr>
              <a:t>過去需要數十 KB 的 JavaScript 套件才能實現的邊界檢測與自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CCCCCC"/>
                </a:solidFill>
              </a:rPr>
              <a:t>動翻轉，現在僅需一行 CSS 即可原生達成。 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CCCCCC"/>
                </a:solidFill>
              </a:rPr>
              <a:t>
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CCCCCC"/>
                </a:solidFill>
              </a:rPr>
              <a:t>
</a:t>
            </a:r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CCCCCC"/>
                </a:solidFill>
              </a:rPr>
              <a:t>效能與維護性的巨大提升。</a:t>
            </a:r>
            <a:endParaRPr lang="en-US" sz="942" dirty="0"/>
          </a:p>
        </p:txBody>
      </p:sp>
      <p:sp>
        <p:nvSpPr>
          <p:cNvPr id="21" name="Shape 18"/>
          <p:cNvSpPr/>
          <p:nvPr/>
        </p:nvSpPr>
        <p:spPr>
          <a:xfrm>
            <a:off x="4572000" y="1419820"/>
            <a:ext cx="4286250" cy="614363"/>
          </a:xfrm>
          <a:prstGeom prst="rect">
            <a:avLst/>
          </a:prstGeom>
          <a:solidFill>
            <a:srgbClr val="FFFFFF"/>
          </a:solidFill>
          <a:ln w="9144">
            <a:solidFill>
              <a:srgbClr val="DDDDDD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594852" y="1419820"/>
            <a:ext cx="263398" cy="185738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23" name="Text 20"/>
          <p:cNvSpPr/>
          <p:nvPr/>
        </p:nvSpPr>
        <p:spPr>
          <a:xfrm>
            <a:off x="8594852" y="1419820"/>
            <a:ext cx="263398" cy="185738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CSS</a:t>
            </a:r>
            <a:endParaRPr lang="en-US" sz="584" dirty="0"/>
          </a:p>
        </p:txBody>
      </p:sp>
      <p:sp>
        <p:nvSpPr>
          <p:cNvPr id="24" name="Text 21"/>
          <p:cNvSpPr/>
          <p:nvPr/>
        </p:nvSpPr>
        <p:spPr>
          <a:xfrm>
            <a:off x="4700588" y="1555552"/>
            <a:ext cx="38074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D32F2F"/>
                </a:solidFill>
              </a:rPr>
              <a:t>.tooltip</a:t>
            </a:r>
            <a:endParaRPr lang="en-US" sz="834" dirty="0"/>
          </a:p>
        </p:txBody>
      </p:sp>
      <p:sp>
        <p:nvSpPr>
          <p:cNvPr id="25" name="Text 22"/>
          <p:cNvSpPr/>
          <p:nvPr/>
        </p:nvSpPr>
        <p:spPr>
          <a:xfrm>
            <a:off x="5081327" y="1555552"/>
            <a:ext cx="10288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{</a:t>
            </a:r>
            <a:endParaRPr lang="en-US" sz="834" dirty="0"/>
          </a:p>
        </p:txBody>
      </p:sp>
      <p:sp>
        <p:nvSpPr>
          <p:cNvPr id="26" name="Text 23"/>
          <p:cNvSpPr/>
          <p:nvPr/>
        </p:nvSpPr>
        <p:spPr>
          <a:xfrm>
            <a:off x="5184214" y="1555552"/>
            <a:ext cx="84765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D32F2F"/>
                </a:solidFill>
              </a:rPr>
              <a:t>position-anchor</a:t>
            </a:r>
            <a:endParaRPr lang="en-US" sz="834" dirty="0"/>
          </a:p>
        </p:txBody>
      </p:sp>
      <p:sp>
        <p:nvSpPr>
          <p:cNvPr id="27" name="Text 24"/>
          <p:cNvSpPr/>
          <p:nvPr/>
        </p:nvSpPr>
        <p:spPr>
          <a:xfrm>
            <a:off x="6031864" y="1555552"/>
            <a:ext cx="6035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:</a:t>
            </a:r>
            <a:endParaRPr lang="en-US" sz="834" dirty="0"/>
          </a:p>
        </p:txBody>
      </p:sp>
      <p:sp>
        <p:nvSpPr>
          <p:cNvPr id="28" name="Text 25"/>
          <p:cNvSpPr/>
          <p:nvPr/>
        </p:nvSpPr>
        <p:spPr>
          <a:xfrm>
            <a:off x="6092223" y="1555552"/>
            <a:ext cx="45778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00796B"/>
                </a:solidFill>
              </a:rPr>
              <a:t>--my-btn</a:t>
            </a:r>
            <a:endParaRPr lang="en-US" sz="834" dirty="0"/>
          </a:p>
        </p:txBody>
      </p:sp>
      <p:sp>
        <p:nvSpPr>
          <p:cNvPr id="29" name="Text 26"/>
          <p:cNvSpPr/>
          <p:nvPr/>
        </p:nvSpPr>
        <p:spPr>
          <a:xfrm>
            <a:off x="6550009" y="1555552"/>
            <a:ext cx="6035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;</a:t>
            </a:r>
            <a:endParaRPr lang="en-US" sz="834" dirty="0"/>
          </a:p>
        </p:txBody>
      </p:sp>
      <p:sp>
        <p:nvSpPr>
          <p:cNvPr id="30" name="Text 27"/>
          <p:cNvSpPr/>
          <p:nvPr/>
        </p:nvSpPr>
        <p:spPr>
          <a:xfrm>
            <a:off x="6610369" y="1555552"/>
            <a:ext cx="39801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D32F2F"/>
                </a:solidFill>
              </a:rPr>
              <a:t>bottom</a:t>
            </a:r>
            <a:endParaRPr lang="en-US" sz="834" dirty="0"/>
          </a:p>
        </p:txBody>
      </p:sp>
      <p:sp>
        <p:nvSpPr>
          <p:cNvPr id="31" name="Text 28"/>
          <p:cNvSpPr/>
          <p:nvPr/>
        </p:nvSpPr>
        <p:spPr>
          <a:xfrm>
            <a:off x="7008382" y="1555552"/>
            <a:ext cx="6035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:</a:t>
            </a:r>
            <a:endParaRPr lang="en-US" sz="834" dirty="0"/>
          </a:p>
        </p:txBody>
      </p:sp>
      <p:sp>
        <p:nvSpPr>
          <p:cNvPr id="32" name="Text 29"/>
          <p:cNvSpPr/>
          <p:nvPr/>
        </p:nvSpPr>
        <p:spPr>
          <a:xfrm>
            <a:off x="7068741" y="1555552"/>
            <a:ext cx="62591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00796B"/>
                </a:solidFill>
              </a:rPr>
              <a:t>anchor(top)</a:t>
            </a:r>
            <a:endParaRPr lang="en-US" sz="834" dirty="0"/>
          </a:p>
        </p:txBody>
      </p:sp>
      <p:sp>
        <p:nvSpPr>
          <p:cNvPr id="33" name="Text 30"/>
          <p:cNvSpPr/>
          <p:nvPr/>
        </p:nvSpPr>
        <p:spPr>
          <a:xfrm>
            <a:off x="7694656" y="1555552"/>
            <a:ext cx="6035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;</a:t>
            </a:r>
            <a:endParaRPr lang="en-US" sz="834" dirty="0"/>
          </a:p>
        </p:txBody>
      </p:sp>
      <p:sp>
        <p:nvSpPr>
          <p:cNvPr id="34" name="Text 31"/>
          <p:cNvSpPr/>
          <p:nvPr/>
        </p:nvSpPr>
        <p:spPr>
          <a:xfrm>
            <a:off x="7755015" y="1555552"/>
            <a:ext cx="93348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i="1" dirty="0">
                <a:solidFill>
                  <a:srgbClr val="888888"/>
                </a:solidFill>
              </a:rPr>
              <a:t>/* 空間不足時自動</a:t>
            </a:r>
            <a:endParaRPr lang="en-US" sz="834" dirty="0"/>
          </a:p>
        </p:txBody>
      </p:sp>
      <p:sp>
        <p:nvSpPr>
          <p:cNvPr id="35" name="Text 32"/>
          <p:cNvSpPr/>
          <p:nvPr/>
        </p:nvSpPr>
        <p:spPr>
          <a:xfrm>
            <a:off x="4700588" y="1727002"/>
            <a:ext cx="36201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i="1" dirty="0">
                <a:solidFill>
                  <a:srgbClr val="888888"/>
                </a:solidFill>
              </a:rPr>
              <a:t>翻轉 */</a:t>
            </a:r>
            <a:endParaRPr lang="en-US" sz="834" dirty="0"/>
          </a:p>
        </p:txBody>
      </p:sp>
      <p:sp>
        <p:nvSpPr>
          <p:cNvPr id="36" name="Text 33"/>
          <p:cNvSpPr/>
          <p:nvPr/>
        </p:nvSpPr>
        <p:spPr>
          <a:xfrm>
            <a:off x="5092322" y="1727002"/>
            <a:ext cx="105934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D32F2F"/>
                </a:solidFill>
              </a:rPr>
              <a:t>position-try-options</a:t>
            </a:r>
            <a:endParaRPr lang="en-US" sz="834" dirty="0"/>
          </a:p>
        </p:txBody>
      </p:sp>
      <p:sp>
        <p:nvSpPr>
          <p:cNvPr id="37" name="Text 34"/>
          <p:cNvSpPr/>
          <p:nvPr/>
        </p:nvSpPr>
        <p:spPr>
          <a:xfrm>
            <a:off x="6151662" y="1727002"/>
            <a:ext cx="6035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:</a:t>
            </a:r>
            <a:endParaRPr lang="en-US" sz="834" dirty="0"/>
          </a:p>
        </p:txBody>
      </p:sp>
      <p:sp>
        <p:nvSpPr>
          <p:cNvPr id="38" name="Text 35"/>
          <p:cNvSpPr/>
          <p:nvPr/>
        </p:nvSpPr>
        <p:spPr>
          <a:xfrm>
            <a:off x="6212021" y="1727002"/>
            <a:ext cx="49024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00796B"/>
                </a:solidFill>
              </a:rPr>
              <a:t>flip-block</a:t>
            </a:r>
            <a:endParaRPr lang="en-US" sz="834" dirty="0"/>
          </a:p>
        </p:txBody>
      </p:sp>
      <p:sp>
        <p:nvSpPr>
          <p:cNvPr id="39" name="Text 36"/>
          <p:cNvSpPr/>
          <p:nvPr/>
        </p:nvSpPr>
        <p:spPr>
          <a:xfrm>
            <a:off x="6702261" y="1727002"/>
            <a:ext cx="10380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; }</a:t>
            </a:r>
            <a:endParaRPr lang="en-US" sz="834" dirty="0"/>
          </a:p>
        </p:txBody>
      </p:sp>
      <p:sp>
        <p:nvSpPr>
          <p:cNvPr id="40" name="Shape 37"/>
          <p:cNvSpPr/>
          <p:nvPr/>
        </p:nvSpPr>
        <p:spPr>
          <a:xfrm>
            <a:off x="4572000" y="2134195"/>
            <a:ext cx="4286250" cy="614363"/>
          </a:xfrm>
          <a:prstGeom prst="rect">
            <a:avLst/>
          </a:prstGeom>
          <a:solidFill>
            <a:srgbClr val="FFFFFF"/>
          </a:solidFill>
          <a:ln w="9144">
            <a:solidFill>
              <a:srgbClr val="DDDDDD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8039286" y="2134195"/>
            <a:ext cx="818964" cy="185738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42" name="Text 39"/>
          <p:cNvSpPr/>
          <p:nvPr/>
        </p:nvSpPr>
        <p:spPr>
          <a:xfrm>
            <a:off x="8039286" y="2134195"/>
            <a:ext cx="818964" cy="185738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Custom Fallback</a:t>
            </a:r>
            <a:endParaRPr lang="en-US" sz="584" dirty="0"/>
          </a:p>
        </p:txBody>
      </p:sp>
      <p:sp>
        <p:nvSpPr>
          <p:cNvPr id="43" name="Text 40"/>
          <p:cNvSpPr/>
          <p:nvPr/>
        </p:nvSpPr>
        <p:spPr>
          <a:xfrm>
            <a:off x="4700588" y="2269927"/>
            <a:ext cx="77096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52CC"/>
                </a:solidFill>
              </a:rPr>
              <a:t>@position-try</a:t>
            </a:r>
            <a:endParaRPr lang="en-US" sz="784" dirty="0"/>
          </a:p>
        </p:txBody>
      </p:sp>
      <p:sp>
        <p:nvSpPr>
          <p:cNvPr id="44" name="Text 41"/>
          <p:cNvSpPr/>
          <p:nvPr/>
        </p:nvSpPr>
        <p:spPr>
          <a:xfrm>
            <a:off x="5501274" y="2269927"/>
            <a:ext cx="92070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00796B"/>
                </a:solidFill>
              </a:rPr>
              <a:t>--custom-fallback</a:t>
            </a:r>
            <a:endParaRPr lang="en-US" sz="834" dirty="0"/>
          </a:p>
        </p:txBody>
      </p:sp>
      <p:sp>
        <p:nvSpPr>
          <p:cNvPr id="45" name="Text 42"/>
          <p:cNvSpPr/>
          <p:nvPr/>
        </p:nvSpPr>
        <p:spPr>
          <a:xfrm>
            <a:off x="6421980" y="2269927"/>
            <a:ext cx="10288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{</a:t>
            </a:r>
            <a:endParaRPr lang="en-US" sz="834" dirty="0"/>
          </a:p>
        </p:txBody>
      </p:sp>
      <p:sp>
        <p:nvSpPr>
          <p:cNvPr id="46" name="Text 43"/>
          <p:cNvSpPr/>
          <p:nvPr/>
        </p:nvSpPr>
        <p:spPr>
          <a:xfrm>
            <a:off x="6524867" y="2269927"/>
            <a:ext cx="39801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D32F2F"/>
                </a:solidFill>
              </a:rPr>
              <a:t>bottom</a:t>
            </a:r>
            <a:endParaRPr lang="en-US" sz="834" dirty="0"/>
          </a:p>
        </p:txBody>
      </p:sp>
      <p:sp>
        <p:nvSpPr>
          <p:cNvPr id="47" name="Text 44"/>
          <p:cNvSpPr/>
          <p:nvPr/>
        </p:nvSpPr>
        <p:spPr>
          <a:xfrm>
            <a:off x="6922880" y="2269927"/>
            <a:ext cx="6035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:</a:t>
            </a:r>
            <a:endParaRPr lang="en-US" sz="834" dirty="0"/>
          </a:p>
        </p:txBody>
      </p:sp>
      <p:sp>
        <p:nvSpPr>
          <p:cNvPr id="48" name="Text 45"/>
          <p:cNvSpPr/>
          <p:nvPr/>
        </p:nvSpPr>
        <p:spPr>
          <a:xfrm>
            <a:off x="6983239" y="2269927"/>
            <a:ext cx="84321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00796B"/>
                </a:solidFill>
              </a:rPr>
              <a:t>anchor(bottom)</a:t>
            </a:r>
            <a:endParaRPr lang="en-US" sz="834" dirty="0"/>
          </a:p>
        </p:txBody>
      </p:sp>
      <p:sp>
        <p:nvSpPr>
          <p:cNvPr id="49" name="Text 46"/>
          <p:cNvSpPr/>
          <p:nvPr/>
        </p:nvSpPr>
        <p:spPr>
          <a:xfrm>
            <a:off x="7826453" y="2269927"/>
            <a:ext cx="6035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;</a:t>
            </a:r>
            <a:endParaRPr lang="en-US" sz="834" dirty="0"/>
          </a:p>
        </p:txBody>
      </p:sp>
      <p:sp>
        <p:nvSpPr>
          <p:cNvPr id="50" name="Text 47"/>
          <p:cNvSpPr/>
          <p:nvPr/>
        </p:nvSpPr>
        <p:spPr>
          <a:xfrm>
            <a:off x="7886812" y="2269927"/>
            <a:ext cx="17454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D32F2F"/>
                </a:solidFill>
              </a:rPr>
              <a:t>left</a:t>
            </a:r>
            <a:endParaRPr lang="en-US" sz="834" dirty="0"/>
          </a:p>
        </p:txBody>
      </p:sp>
      <p:sp>
        <p:nvSpPr>
          <p:cNvPr id="51" name="Text 48"/>
          <p:cNvSpPr/>
          <p:nvPr/>
        </p:nvSpPr>
        <p:spPr>
          <a:xfrm>
            <a:off x="8061359" y="2269927"/>
            <a:ext cx="3064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:</a:t>
            </a:r>
            <a:endParaRPr lang="en-US" sz="834" dirty="0"/>
          </a:p>
        </p:txBody>
      </p:sp>
      <p:sp>
        <p:nvSpPr>
          <p:cNvPr id="52" name="Text 49"/>
          <p:cNvSpPr/>
          <p:nvPr/>
        </p:nvSpPr>
        <p:spPr>
          <a:xfrm>
            <a:off x="4700588" y="2441377"/>
            <a:ext cx="70410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00796B"/>
                </a:solidFill>
              </a:rPr>
              <a:t>anchor(right)</a:t>
            </a:r>
            <a:endParaRPr lang="en-US" sz="834" dirty="0"/>
          </a:p>
        </p:txBody>
      </p:sp>
      <p:sp>
        <p:nvSpPr>
          <p:cNvPr id="53" name="Text 50"/>
          <p:cNvSpPr/>
          <p:nvPr/>
        </p:nvSpPr>
        <p:spPr>
          <a:xfrm>
            <a:off x="5404693" y="2441377"/>
            <a:ext cx="10380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; }</a:t>
            </a:r>
            <a:endParaRPr lang="en-US" sz="834" dirty="0"/>
          </a:p>
        </p:txBody>
      </p:sp>
      <p:pic>
        <p:nvPicPr>
          <p:cNvPr id="5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3429000"/>
            <a:ext cx="4286250" cy="14287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8286750" cy="81974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28625" y="428625"/>
            <a:ext cx="57150" cy="819745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5" name="Text 2"/>
          <p:cNvSpPr/>
          <p:nvPr/>
        </p:nvSpPr>
        <p:spPr>
          <a:xfrm>
            <a:off x="642938" y="428625"/>
            <a:ext cx="8072438" cy="4982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A1A1A"/>
                </a:solidFill>
              </a:rPr>
              <a:t>與 Top Layer 元素的完美整合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642938" y="998339"/>
            <a:ext cx="8072438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555555"/>
                </a:solidFill>
              </a:rPr>
              <a:t>Popover 與 Dialog 的最佳拍檔</a:t>
            </a:r>
            <a:endParaRPr lang="en-US" sz="1269" dirty="0"/>
          </a:p>
        </p:txBody>
      </p:sp>
      <p:sp>
        <p:nvSpPr>
          <p:cNvPr id="7" name="Shape 4"/>
          <p:cNvSpPr/>
          <p:nvPr/>
        </p:nvSpPr>
        <p:spPr>
          <a:xfrm>
            <a:off x="428625" y="1534120"/>
            <a:ext cx="3977618" cy="97007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5"/>
          <p:cNvSpPr/>
          <p:nvPr/>
        </p:nvSpPr>
        <p:spPr>
          <a:xfrm>
            <a:off x="428625" y="1534120"/>
            <a:ext cx="3977618" cy="2857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" name="Text 6"/>
          <p:cNvSpPr/>
          <p:nvPr/>
        </p:nvSpPr>
        <p:spPr>
          <a:xfrm>
            <a:off x="500063" y="1605558"/>
            <a:ext cx="3834743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52CC"/>
                </a:solidFill>
              </a:rPr>
              <a:t>Top Layer 的定位困境</a:t>
            </a:r>
            <a:endParaRPr lang="en-US" sz="987" dirty="0"/>
          </a:p>
        </p:txBody>
      </p:sp>
      <p:sp>
        <p:nvSpPr>
          <p:cNvPr id="10" name="Text 7"/>
          <p:cNvSpPr/>
          <p:nvPr/>
        </p:nvSpPr>
        <p:spPr>
          <a:xfrm>
            <a:off x="500063" y="1855589"/>
            <a:ext cx="3834743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Top Layer 元素（如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popover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,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&lt;dialog&gt;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）雖然能自動置於所有內容之上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並脫離 z-index 限制，但傳統上難以與頁面中的特定觸發元素保持視覺關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聯。</a:t>
            </a:r>
            <a:endParaRPr lang="en-US" sz="834" dirty="0"/>
          </a:p>
        </p:txBody>
      </p:sp>
      <p:sp>
        <p:nvSpPr>
          <p:cNvPr id="11" name="Shape 8"/>
          <p:cNvSpPr/>
          <p:nvPr/>
        </p:nvSpPr>
        <p:spPr>
          <a:xfrm>
            <a:off x="428625" y="2561341"/>
            <a:ext cx="3977618" cy="7872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9"/>
          <p:cNvSpPr/>
          <p:nvPr/>
        </p:nvSpPr>
        <p:spPr>
          <a:xfrm>
            <a:off x="428625" y="2561341"/>
            <a:ext cx="3977618" cy="28575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13" name="Text 10"/>
          <p:cNvSpPr/>
          <p:nvPr/>
        </p:nvSpPr>
        <p:spPr>
          <a:xfrm>
            <a:off x="500063" y="2632779"/>
            <a:ext cx="3834743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52CC"/>
                </a:solidFill>
              </a:rPr>
              <a:t>Anchor Positioning 的解決方案</a:t>
            </a:r>
            <a:endParaRPr lang="en-US" sz="987" dirty="0"/>
          </a:p>
        </p:txBody>
      </p:sp>
      <p:sp>
        <p:nvSpPr>
          <p:cNvPr id="14" name="Text 11"/>
          <p:cNvSpPr/>
          <p:nvPr/>
        </p:nvSpPr>
        <p:spPr>
          <a:xfrm>
            <a:off x="500063" y="2882810"/>
            <a:ext cx="3834743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透過 Anchor Positioning，Top Layer 元素可以輕鬆「錨定」回觸發它的元素，同時保留其頂層特性。</a:t>
            </a:r>
            <a:endParaRPr lang="en-US" sz="834" dirty="0"/>
          </a:p>
        </p:txBody>
      </p:sp>
      <p:sp>
        <p:nvSpPr>
          <p:cNvPr id="15" name="Shape 12"/>
          <p:cNvSpPr/>
          <p:nvPr/>
        </p:nvSpPr>
        <p:spPr>
          <a:xfrm>
            <a:off x="428625" y="3405699"/>
            <a:ext cx="3977618" cy="1309176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6" name="Text 13"/>
          <p:cNvSpPr/>
          <p:nvPr/>
        </p:nvSpPr>
        <p:spPr>
          <a:xfrm>
            <a:off x="500063" y="3477137"/>
            <a:ext cx="3834743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1" kern="0" dirty="0">
                <a:solidFill>
                  <a:srgbClr val="FF4500"/>
                </a:solidFill>
              </a:rPr>
              <a:t>實際應用場景</a:t>
            </a:r>
            <a:endParaRPr lang="en-US" sz="885" dirty="0"/>
          </a:p>
        </p:txBody>
      </p:sp>
      <p:sp>
        <p:nvSpPr>
          <p:cNvPr id="17" name="Text 14"/>
          <p:cNvSpPr/>
          <p:nvPr/>
        </p:nvSpPr>
        <p:spPr>
          <a:xfrm>
            <a:off x="500063" y="3752171"/>
            <a:ext cx="189594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FFFFFF"/>
                </a:solidFill>
              </a:rPr>
              <a:t>Tooltips 提示</a:t>
            </a:r>
            <a:endParaRPr lang="en-US" sz="834" dirty="0"/>
          </a:p>
        </p:txBody>
      </p:sp>
      <p:sp>
        <p:nvSpPr>
          <p:cNvPr id="18" name="Text 15"/>
          <p:cNvSpPr/>
          <p:nvPr/>
        </p:nvSpPr>
        <p:spPr>
          <a:xfrm>
            <a:off x="2438865" y="3752171"/>
            <a:ext cx="189594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FFFFFF"/>
                </a:solidFill>
              </a:rPr>
              <a:t>下拉選單</a:t>
            </a:r>
            <a:endParaRPr lang="en-US" sz="834" dirty="0"/>
          </a:p>
        </p:txBody>
      </p:sp>
      <p:sp>
        <p:nvSpPr>
          <p:cNvPr id="19" name="Text 16"/>
          <p:cNvSpPr/>
          <p:nvPr/>
        </p:nvSpPr>
        <p:spPr>
          <a:xfrm>
            <a:off x="500063" y="3959340"/>
            <a:ext cx="189594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FFFFFF"/>
                </a:solidFill>
              </a:rPr>
              <a:t>設定對話框</a:t>
            </a:r>
            <a:endParaRPr lang="en-US" sz="834" dirty="0"/>
          </a:p>
        </p:txBody>
      </p:sp>
      <p:sp>
        <p:nvSpPr>
          <p:cNvPr id="20" name="Text 17"/>
          <p:cNvSpPr/>
          <p:nvPr/>
        </p:nvSpPr>
        <p:spPr>
          <a:xfrm>
            <a:off x="2438865" y="3959340"/>
            <a:ext cx="189594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FFFFFF"/>
                </a:solidFill>
              </a:rPr>
              <a:t>上下文選單</a:t>
            </a:r>
            <a:endParaRPr lang="en-US" sz="834" dirty="0"/>
          </a:p>
        </p:txBody>
      </p:sp>
      <p:sp>
        <p:nvSpPr>
          <p:cNvPr id="21" name="Text 18"/>
          <p:cNvSpPr/>
          <p:nvPr/>
        </p:nvSpPr>
        <p:spPr>
          <a:xfrm>
            <a:off x="500063" y="4166508"/>
            <a:ext cx="189594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FFFFFF"/>
                </a:solidFill>
              </a:rPr>
              <a:t>教學引導</a:t>
            </a:r>
            <a:endParaRPr lang="en-US" sz="834" dirty="0"/>
          </a:p>
        </p:txBody>
      </p:sp>
      <p:sp>
        <p:nvSpPr>
          <p:cNvPr id="22" name="Text 19"/>
          <p:cNvSpPr/>
          <p:nvPr/>
        </p:nvSpPr>
        <p:spPr>
          <a:xfrm>
            <a:off x="2438865" y="4166508"/>
            <a:ext cx="189594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FFFFFF"/>
                </a:solidFill>
              </a:rPr>
              <a:t>錯誤訊息</a:t>
            </a:r>
            <a:endParaRPr lang="en-US" sz="834" dirty="0"/>
          </a:p>
        </p:txBody>
      </p:sp>
      <p:sp>
        <p:nvSpPr>
          <p:cNvPr id="23" name="Shape 20"/>
          <p:cNvSpPr/>
          <p:nvPr/>
        </p:nvSpPr>
        <p:spPr>
          <a:xfrm>
            <a:off x="4737702" y="1534120"/>
            <a:ext cx="3977618" cy="621506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4" name="Shape 21"/>
          <p:cNvSpPr/>
          <p:nvPr/>
        </p:nvSpPr>
        <p:spPr>
          <a:xfrm>
            <a:off x="4737702" y="1534120"/>
            <a:ext cx="28575" cy="621506"/>
          </a:xfrm>
          <a:prstGeom prst="rect">
            <a:avLst/>
          </a:prstGeom>
          <a:solidFill>
            <a:srgbClr val="FF4500"/>
          </a:solidFill>
          <a:ln/>
        </p:spPr>
      </p:sp>
      <p:sp>
        <p:nvSpPr>
          <p:cNvPr id="25" name="Text 22"/>
          <p:cNvSpPr/>
          <p:nvPr/>
        </p:nvSpPr>
        <p:spPr>
          <a:xfrm>
            <a:off x="4737702" y="1534120"/>
            <a:ext cx="3977618" cy="621506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75715E"/>
                </a:solidFill>
              </a:rPr>
              <a:t>&lt;!-- 1. 定義錨點 --&gt;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F92672"/>
                </a:solidFill>
              </a:rPr>
              <a:t>&lt;button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A6E22E"/>
                </a:solidFill>
              </a:rPr>
              <a:t>style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F2F2F2"/>
                </a:solidFill>
              </a:rPr>
              <a:t>=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6DB74"/>
                </a:solidFill>
              </a:rPr>
              <a:t>"anchor-name: --menu-btn"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F92672"/>
                </a:solidFill>
              </a:rPr>
              <a:t>&gt;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F2F2F2"/>
                </a:solidFill>
              </a:rPr>
              <a:t> 選單 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F92672"/>
                </a:solidFill>
              </a:rPr>
              <a:t>&lt;/button&gt;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75715E"/>
                </a:solidFill>
              </a:rPr>
              <a:t>&lt;!-- 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75715E"/>
                </a:solidFill>
              </a:rPr>
              <a:t>2. 關聯 Top Layer 元素 --&gt;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F92672"/>
                </a:solidFill>
              </a:rPr>
              <a:t>&lt;div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A6E22E"/>
                </a:solidFill>
              </a:rPr>
              <a:t>popover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A6E22E"/>
                </a:solidFill>
              </a:rPr>
              <a:t>style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F2F2F2"/>
                </a:solidFill>
              </a:rPr>
              <a:t>=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6DB74"/>
                </a:solidFill>
              </a:rPr>
              <a:t>"position-anchor: --menu-btn"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F92672"/>
                </a:solidFill>
              </a:rPr>
              <a:t>&gt;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F92672"/>
                </a:solidFill>
              </a:rPr>
              <a:t>&lt;ul&gt;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F92672"/>
                </a:solidFill>
              </a:rPr>
              <a:t>&lt;li&gt;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F2F2F2"/>
                </a:solidFill>
              </a:rPr>
              <a:t>選項 1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F92672"/>
                </a:solidFill>
              </a:rPr>
              <a:t>&lt;/li&gt;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F92672"/>
                </a:solidFill>
              </a:rPr>
              <a:t>&lt;li&gt;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F2F2F2"/>
                </a:solidFill>
              </a:rPr>
              <a:t>選項 2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F92672"/>
                </a:solidFill>
              </a:rPr>
              <a:t>&lt;/li&gt;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F92672"/>
                </a:solidFill>
              </a:rPr>
              <a:t>&lt;/ul&gt;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F92672"/>
                </a:solidFill>
              </a:rPr>
              <a:t>&lt;/div&gt;</a:t>
            </a:r>
            <a:endParaRPr lang="en-US" sz="727" dirty="0"/>
          </a:p>
        </p:txBody>
      </p:sp>
      <p:sp>
        <p:nvSpPr>
          <p:cNvPr id="26" name="Shape 23"/>
          <p:cNvSpPr/>
          <p:nvPr/>
        </p:nvSpPr>
        <p:spPr>
          <a:xfrm>
            <a:off x="4737702" y="2241352"/>
            <a:ext cx="3977618" cy="2473523"/>
          </a:xfrm>
          <a:prstGeom prst="rect">
            <a:avLst/>
          </a:prstGeom>
          <a:solidFill>
            <a:srgbClr val="FFFFFF"/>
          </a:solidFill>
          <a:ln w="9144">
            <a:solidFill>
              <a:srgbClr val="DDDDDD"/>
            </a:solidFill>
            <a:prstDash val="solid"/>
          </a:ln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6757" y="3013770"/>
            <a:ext cx="1059507" cy="9286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428625"/>
            <a:ext cx="8572500" cy="81974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85750" y="428625"/>
            <a:ext cx="57150" cy="819745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5" name="Text 2"/>
          <p:cNvSpPr/>
          <p:nvPr/>
        </p:nvSpPr>
        <p:spPr>
          <a:xfrm>
            <a:off x="500063" y="428625"/>
            <a:ext cx="8358188" cy="4982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A1A1A"/>
                </a:solidFill>
              </a:rPr>
              <a:t>瀏覽器支援度與策略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500063" y="998339"/>
            <a:ext cx="8358188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555555"/>
                </a:solidFill>
              </a:rPr>
              <a:t>漸進增強：穩健部署的最佳實踐</a:t>
            </a:r>
            <a:endParaRPr lang="en-US" sz="1269" dirty="0"/>
          </a:p>
        </p:txBody>
      </p:sp>
      <p:sp>
        <p:nvSpPr>
          <p:cNvPr id="7" name="Shape 4"/>
          <p:cNvSpPr/>
          <p:nvPr/>
        </p:nvSpPr>
        <p:spPr>
          <a:xfrm>
            <a:off x="285750" y="1419820"/>
            <a:ext cx="3000375" cy="992981"/>
          </a:xfrm>
          <a:prstGeom prst="rect">
            <a:avLst/>
          </a:prstGeom>
          <a:solidFill>
            <a:srgbClr val="FFFFFF"/>
          </a:solidFill>
          <a:ln w="9144">
            <a:solidFill>
              <a:srgbClr val="DDDDD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71475" y="1505545"/>
            <a:ext cx="2828925" cy="232172"/>
          </a:xfrm>
          <a:prstGeom prst="rect">
            <a:avLst/>
          </a:prstGeom>
          <a:noFill/>
          <a:ln/>
        </p:spPr>
        <p:txBody>
          <a:bodyPr wrap="square" lIns="0" tIns="0" rIns="0" bIns="51054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View Transitions API</a:t>
            </a:r>
            <a:endParaRPr lang="en-US" sz="885" dirty="0"/>
          </a:p>
        </p:txBody>
      </p:sp>
      <p:sp>
        <p:nvSpPr>
          <p:cNvPr id="9" name="Text 6"/>
          <p:cNvSpPr/>
          <p:nvPr/>
        </p:nvSpPr>
        <p:spPr>
          <a:xfrm>
            <a:off x="371475" y="1832372"/>
            <a:ext cx="80822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33333"/>
                </a:solidFill>
              </a:rPr>
              <a:t>Chrome / Edge</a:t>
            </a:r>
            <a:endParaRPr lang="en-US" sz="784" dirty="0"/>
          </a:p>
        </p:txBody>
      </p:sp>
      <p:sp>
        <p:nvSpPr>
          <p:cNvPr id="10" name="Shape 7"/>
          <p:cNvSpPr/>
          <p:nvPr/>
        </p:nvSpPr>
        <p:spPr>
          <a:xfrm>
            <a:off x="2551909" y="1823442"/>
            <a:ext cx="648491" cy="173236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1" name="Text 8"/>
          <p:cNvSpPr/>
          <p:nvPr/>
        </p:nvSpPr>
        <p:spPr>
          <a:xfrm>
            <a:off x="2551909" y="1823442"/>
            <a:ext cx="648491" cy="173236"/>
          </a:xfrm>
          <a:prstGeom prst="rect">
            <a:avLst/>
          </a:prstGeom>
          <a:noFill/>
          <a:ln/>
        </p:spPr>
        <p:txBody>
          <a:bodyPr wrap="square" lIns="85090" tIns="34036" rIns="85090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2E7D32"/>
                </a:solidFill>
              </a:rPr>
              <a:t>Supported</a:t>
            </a:r>
            <a:endParaRPr lang="en-US" sz="584" dirty="0"/>
          </a:p>
        </p:txBody>
      </p:sp>
      <p:sp>
        <p:nvSpPr>
          <p:cNvPr id="12" name="Text 9"/>
          <p:cNvSpPr/>
          <p:nvPr/>
        </p:nvSpPr>
        <p:spPr>
          <a:xfrm>
            <a:off x="371475" y="2077045"/>
            <a:ext cx="79119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33333"/>
                </a:solidFill>
              </a:rPr>
              <a:t>Safari / Firefox</a:t>
            </a:r>
            <a:endParaRPr lang="en-US" sz="784" dirty="0"/>
          </a:p>
        </p:txBody>
      </p:sp>
      <p:sp>
        <p:nvSpPr>
          <p:cNvPr id="13" name="Shape 10"/>
          <p:cNvSpPr/>
          <p:nvPr/>
        </p:nvSpPr>
        <p:spPr>
          <a:xfrm>
            <a:off x="2765022" y="2068116"/>
            <a:ext cx="435378" cy="173236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14" name="Text 11"/>
          <p:cNvSpPr/>
          <p:nvPr/>
        </p:nvSpPr>
        <p:spPr>
          <a:xfrm>
            <a:off x="2765022" y="2068116"/>
            <a:ext cx="435378" cy="173236"/>
          </a:xfrm>
          <a:prstGeom prst="rect">
            <a:avLst/>
          </a:prstGeom>
          <a:noFill/>
          <a:ln/>
        </p:spPr>
        <p:txBody>
          <a:bodyPr wrap="square" lIns="85090" tIns="34036" rIns="85090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EF6C00"/>
                </a:solidFill>
              </a:rPr>
              <a:t>In Dev</a:t>
            </a:r>
            <a:endParaRPr lang="en-US" sz="584" dirty="0"/>
          </a:p>
        </p:txBody>
      </p:sp>
      <p:sp>
        <p:nvSpPr>
          <p:cNvPr id="15" name="Shape 12"/>
          <p:cNvSpPr/>
          <p:nvPr/>
        </p:nvSpPr>
        <p:spPr>
          <a:xfrm>
            <a:off x="285750" y="2512814"/>
            <a:ext cx="3000375" cy="992981"/>
          </a:xfrm>
          <a:prstGeom prst="rect">
            <a:avLst/>
          </a:prstGeom>
          <a:solidFill>
            <a:srgbClr val="FFFFFF"/>
          </a:solidFill>
          <a:ln w="9144">
            <a:solidFill>
              <a:srgbClr val="DDDDD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71475" y="2598539"/>
            <a:ext cx="2828925" cy="232172"/>
          </a:xfrm>
          <a:prstGeom prst="rect">
            <a:avLst/>
          </a:prstGeom>
          <a:noFill/>
          <a:ln/>
        </p:spPr>
        <p:txBody>
          <a:bodyPr wrap="square" lIns="0" tIns="0" rIns="0" bIns="51054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Anchor Positioning</a:t>
            </a:r>
            <a:endParaRPr lang="en-US" sz="885" dirty="0"/>
          </a:p>
        </p:txBody>
      </p:sp>
      <p:sp>
        <p:nvSpPr>
          <p:cNvPr id="17" name="Text 14"/>
          <p:cNvSpPr/>
          <p:nvPr/>
        </p:nvSpPr>
        <p:spPr>
          <a:xfrm>
            <a:off x="371475" y="2925366"/>
            <a:ext cx="72537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33333"/>
                </a:solidFill>
              </a:rPr>
              <a:t>Chrome 125+</a:t>
            </a:r>
            <a:endParaRPr lang="en-US" sz="784" dirty="0"/>
          </a:p>
        </p:txBody>
      </p:sp>
      <p:sp>
        <p:nvSpPr>
          <p:cNvPr id="18" name="Shape 15"/>
          <p:cNvSpPr/>
          <p:nvPr/>
        </p:nvSpPr>
        <p:spPr>
          <a:xfrm>
            <a:off x="2551909" y="2916436"/>
            <a:ext cx="648491" cy="173236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9" name="Text 16"/>
          <p:cNvSpPr/>
          <p:nvPr/>
        </p:nvSpPr>
        <p:spPr>
          <a:xfrm>
            <a:off x="2551909" y="2916436"/>
            <a:ext cx="648491" cy="173236"/>
          </a:xfrm>
          <a:prstGeom prst="rect">
            <a:avLst/>
          </a:prstGeom>
          <a:noFill/>
          <a:ln/>
        </p:spPr>
        <p:txBody>
          <a:bodyPr wrap="square" lIns="85090" tIns="34036" rIns="85090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2E7D32"/>
                </a:solidFill>
              </a:rPr>
              <a:t>Supported</a:t>
            </a:r>
            <a:endParaRPr lang="en-US" sz="584" dirty="0"/>
          </a:p>
        </p:txBody>
      </p:sp>
      <p:sp>
        <p:nvSpPr>
          <p:cNvPr id="20" name="Text 17"/>
          <p:cNvSpPr/>
          <p:nvPr/>
        </p:nvSpPr>
        <p:spPr>
          <a:xfrm>
            <a:off x="371475" y="3170039"/>
            <a:ext cx="79119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33333"/>
                </a:solidFill>
              </a:rPr>
              <a:t>Safari / Firefox</a:t>
            </a:r>
            <a:endParaRPr lang="en-US" sz="784" dirty="0"/>
          </a:p>
        </p:txBody>
      </p:sp>
      <p:sp>
        <p:nvSpPr>
          <p:cNvPr id="21" name="Shape 18"/>
          <p:cNvSpPr/>
          <p:nvPr/>
        </p:nvSpPr>
        <p:spPr>
          <a:xfrm>
            <a:off x="2765022" y="3161109"/>
            <a:ext cx="435378" cy="173236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22" name="Text 19"/>
          <p:cNvSpPr/>
          <p:nvPr/>
        </p:nvSpPr>
        <p:spPr>
          <a:xfrm>
            <a:off x="2765022" y="3161109"/>
            <a:ext cx="435378" cy="173236"/>
          </a:xfrm>
          <a:prstGeom prst="rect">
            <a:avLst/>
          </a:prstGeom>
          <a:noFill/>
          <a:ln/>
        </p:spPr>
        <p:txBody>
          <a:bodyPr wrap="square" lIns="85090" tIns="34036" rIns="85090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EF6C00"/>
                </a:solidFill>
              </a:rPr>
              <a:t>In Dev</a:t>
            </a:r>
            <a:endParaRPr lang="en-US" sz="584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3857625"/>
            <a:ext cx="3000375" cy="1143000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3629025" y="1419820"/>
            <a:ext cx="5143500" cy="975792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5" name="Shape 21"/>
          <p:cNvSpPr/>
          <p:nvPr/>
        </p:nvSpPr>
        <p:spPr>
          <a:xfrm>
            <a:off x="3629025" y="1419820"/>
            <a:ext cx="42863" cy="975792"/>
          </a:xfrm>
          <a:prstGeom prst="rect">
            <a:avLst/>
          </a:prstGeom>
          <a:solidFill>
            <a:srgbClr val="FF4500"/>
          </a:solidFill>
          <a:ln/>
        </p:spPr>
      </p:sp>
      <p:sp>
        <p:nvSpPr>
          <p:cNvPr id="26" name="Text 22"/>
          <p:cNvSpPr/>
          <p:nvPr/>
        </p:nvSpPr>
        <p:spPr>
          <a:xfrm>
            <a:off x="3743325" y="1534120"/>
            <a:ext cx="4914900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4500"/>
                </a:solidFill>
              </a:rPr>
              <a:t>漸進增強 (Progressive Enhancement)</a:t>
            </a:r>
            <a:endParaRPr lang="en-US" sz="1193" dirty="0"/>
          </a:p>
        </p:txBody>
      </p:sp>
      <p:sp>
        <p:nvSpPr>
          <p:cNvPr id="27" name="Text 23"/>
          <p:cNvSpPr/>
          <p:nvPr/>
        </p:nvSpPr>
        <p:spPr>
          <a:xfrm>
            <a:off x="3743325" y="1869877"/>
            <a:ext cx="491490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FFFFFF">
                    <a:alpha val="90000"/>
                  </a:srgbClr>
                </a:solidFill>
              </a:rPr>
              <a:t>核心哲學：首先為所有使用者提供基礎、穩定的功能體驗，再為現代瀏覽器使用者提供更豐富、流暢的進階體驗。</a:t>
            </a:r>
            <a:endParaRPr lang="en-US" sz="942" dirty="0"/>
          </a:p>
        </p:txBody>
      </p:sp>
      <p:sp>
        <p:nvSpPr>
          <p:cNvPr id="28" name="Shape 24"/>
          <p:cNvSpPr/>
          <p:nvPr/>
        </p:nvSpPr>
        <p:spPr>
          <a:xfrm>
            <a:off x="3629025" y="2509912"/>
            <a:ext cx="2528888" cy="687195"/>
          </a:xfrm>
          <a:prstGeom prst="rect">
            <a:avLst/>
          </a:prstGeom>
          <a:solidFill>
            <a:srgbClr val="FFFFFF"/>
          </a:solidFill>
          <a:ln w="9144">
            <a:solidFill>
              <a:srgbClr val="DDDDDD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3714750" y="2595637"/>
            <a:ext cx="2357438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52CC"/>
                </a:solidFill>
              </a:rPr>
              <a:t>基礎體驗 (Base)</a:t>
            </a:r>
            <a:endParaRPr lang="en-US" sz="784" dirty="0"/>
          </a:p>
        </p:txBody>
      </p:sp>
      <p:sp>
        <p:nvSpPr>
          <p:cNvPr id="30" name="Text 26"/>
          <p:cNvSpPr/>
          <p:nvPr/>
        </p:nvSpPr>
        <p:spPr>
          <a:xfrm>
            <a:off x="3714750" y="2817093"/>
            <a:ext cx="2357438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555555"/>
                </a:solidFill>
              </a:rPr>
              <a:t>傳統頁面跳轉、標準絕對定位。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555555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555555"/>
                </a:solidFill>
              </a:rPr>
              <a:t> 功能完整，穩定可靠。</a:t>
            </a:r>
            <a:endParaRPr lang="en-US" sz="727" dirty="0"/>
          </a:p>
        </p:txBody>
      </p:sp>
      <p:sp>
        <p:nvSpPr>
          <p:cNvPr id="31" name="Shape 27"/>
          <p:cNvSpPr/>
          <p:nvPr/>
        </p:nvSpPr>
        <p:spPr>
          <a:xfrm>
            <a:off x="6243638" y="2509912"/>
            <a:ext cx="2528888" cy="687195"/>
          </a:xfrm>
          <a:prstGeom prst="rect">
            <a:avLst/>
          </a:prstGeom>
          <a:solidFill>
            <a:srgbClr val="FFFFFF"/>
          </a:solidFill>
          <a:ln w="9144">
            <a:solidFill>
              <a:srgbClr val="DDDDDD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6329363" y="2595637"/>
            <a:ext cx="2357438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52CC"/>
                </a:solidFill>
              </a:rPr>
              <a:t>進階體驗 (Advanced)</a:t>
            </a:r>
            <a:endParaRPr lang="en-US" sz="784" dirty="0"/>
          </a:p>
        </p:txBody>
      </p:sp>
      <p:sp>
        <p:nvSpPr>
          <p:cNvPr id="33" name="Text 29"/>
          <p:cNvSpPr/>
          <p:nvPr/>
        </p:nvSpPr>
        <p:spPr>
          <a:xfrm>
            <a:off x="6329363" y="2817093"/>
            <a:ext cx="2357438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555555"/>
                </a:solidFill>
              </a:rPr>
              <a:t>無縫過渡動畫、智慧動態定位。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555555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555555"/>
                </a:solidFill>
              </a:rPr>
              <a:t> 視覺流暢，互動細膩。</a:t>
            </a:r>
            <a:endParaRPr lang="en-US" sz="727" dirty="0"/>
          </a:p>
        </p:txBody>
      </p:sp>
      <p:sp>
        <p:nvSpPr>
          <p:cNvPr id="34" name="Shape 30"/>
          <p:cNvSpPr/>
          <p:nvPr/>
        </p:nvSpPr>
        <p:spPr>
          <a:xfrm>
            <a:off x="3629025" y="3297120"/>
            <a:ext cx="5143500" cy="487561"/>
          </a:xfrm>
          <a:prstGeom prst="rect">
            <a:avLst/>
          </a:prstGeom>
          <a:solidFill>
            <a:srgbClr val="FFFFFF"/>
          </a:solidFill>
          <a:ln w="9144">
            <a:solidFill>
              <a:srgbClr val="DDDDDD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7886254" y="3297120"/>
            <a:ext cx="886271" cy="173236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36" name="Text 32"/>
          <p:cNvSpPr/>
          <p:nvPr/>
        </p:nvSpPr>
        <p:spPr>
          <a:xfrm>
            <a:off x="7886254" y="3297120"/>
            <a:ext cx="886271" cy="173236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Feature Detection</a:t>
            </a:r>
            <a:endParaRPr lang="en-US" sz="584" dirty="0"/>
          </a:p>
        </p:txBody>
      </p:sp>
      <p:sp>
        <p:nvSpPr>
          <p:cNvPr id="37" name="Text 33"/>
          <p:cNvSpPr/>
          <p:nvPr/>
        </p:nvSpPr>
        <p:spPr>
          <a:xfrm>
            <a:off x="3714750" y="3391774"/>
            <a:ext cx="570188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D32F2F"/>
                </a:solidFill>
              </a:rPr>
              <a:t>@supports</a:t>
            </a:r>
            <a:endParaRPr lang="en-US" sz="734" dirty="0"/>
          </a:p>
        </p:txBody>
      </p:sp>
      <p:sp>
        <p:nvSpPr>
          <p:cNvPr id="38" name="Text 34"/>
          <p:cNvSpPr/>
          <p:nvPr/>
        </p:nvSpPr>
        <p:spPr>
          <a:xfrm>
            <a:off x="4284938" y="3391774"/>
            <a:ext cx="60024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000000"/>
                </a:solidFill>
              </a:rPr>
              <a:t>(</a:t>
            </a:r>
            <a:endParaRPr lang="en-US" sz="780" dirty="0"/>
          </a:p>
        </p:txBody>
      </p:sp>
      <p:sp>
        <p:nvSpPr>
          <p:cNvPr id="39" name="Text 35"/>
          <p:cNvSpPr/>
          <p:nvPr/>
        </p:nvSpPr>
        <p:spPr>
          <a:xfrm>
            <a:off x="4344963" y="3391774"/>
            <a:ext cx="1064084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0052CC"/>
                </a:solidFill>
              </a:rPr>
              <a:t>view-transition-name</a:t>
            </a:r>
            <a:endParaRPr lang="en-US" sz="780" dirty="0"/>
          </a:p>
        </p:txBody>
      </p:sp>
      <p:sp>
        <p:nvSpPr>
          <p:cNvPr id="40" name="Text 36"/>
          <p:cNvSpPr/>
          <p:nvPr/>
        </p:nvSpPr>
        <p:spPr>
          <a:xfrm>
            <a:off x="5409047" y="3391774"/>
            <a:ext cx="56592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000000"/>
                </a:solidFill>
              </a:rPr>
              <a:t>:</a:t>
            </a:r>
            <a:endParaRPr lang="en-US" sz="780" dirty="0"/>
          </a:p>
        </p:txBody>
      </p:sp>
      <p:sp>
        <p:nvSpPr>
          <p:cNvPr id="41" name="Text 37"/>
          <p:cNvSpPr/>
          <p:nvPr/>
        </p:nvSpPr>
        <p:spPr>
          <a:xfrm>
            <a:off x="5465638" y="3391774"/>
            <a:ext cx="257733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00796B"/>
                </a:solidFill>
              </a:rPr>
              <a:t>none</a:t>
            </a:r>
            <a:endParaRPr lang="en-US" sz="780" dirty="0"/>
          </a:p>
        </p:txBody>
      </p:sp>
      <p:sp>
        <p:nvSpPr>
          <p:cNvPr id="42" name="Text 38"/>
          <p:cNvSpPr/>
          <p:nvPr/>
        </p:nvSpPr>
        <p:spPr>
          <a:xfrm>
            <a:off x="5723372" y="3391774"/>
            <a:ext cx="128588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000000"/>
                </a:solidFill>
              </a:rPr>
              <a:t>) {</a:t>
            </a:r>
            <a:endParaRPr lang="en-US" sz="780" dirty="0"/>
          </a:p>
        </p:txBody>
      </p:sp>
      <p:sp>
        <p:nvSpPr>
          <p:cNvPr id="43" name="Text 39"/>
          <p:cNvSpPr/>
          <p:nvPr/>
        </p:nvSpPr>
        <p:spPr>
          <a:xfrm>
            <a:off x="5851959" y="3391774"/>
            <a:ext cx="2138409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80" i="1" dirty="0">
                <a:solidFill>
                  <a:srgbClr val="888888"/>
                </a:solidFill>
              </a:rPr>
              <a:t>/* 僅在支援 View Transitions 的瀏覽器應用 */</a:t>
            </a:r>
            <a:endParaRPr lang="en-US" sz="780" dirty="0"/>
          </a:p>
        </p:txBody>
      </p:sp>
      <p:sp>
        <p:nvSpPr>
          <p:cNvPr id="44" name="Text 40"/>
          <p:cNvSpPr/>
          <p:nvPr/>
        </p:nvSpPr>
        <p:spPr>
          <a:xfrm>
            <a:off x="8018245" y="3391774"/>
            <a:ext cx="316557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0052CC"/>
                </a:solidFill>
              </a:rPr>
              <a:t>::view-</a:t>
            </a:r>
            <a:endParaRPr lang="en-US" sz="780" dirty="0"/>
          </a:p>
        </p:txBody>
      </p:sp>
      <p:sp>
        <p:nvSpPr>
          <p:cNvPr id="45" name="Text 41"/>
          <p:cNvSpPr/>
          <p:nvPr/>
        </p:nvSpPr>
        <p:spPr>
          <a:xfrm>
            <a:off x="3714750" y="3538221"/>
            <a:ext cx="951123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0052CC"/>
                </a:solidFill>
              </a:rPr>
              <a:t>transition-old(root)</a:t>
            </a:r>
            <a:endParaRPr lang="en-US" sz="780" dirty="0"/>
          </a:p>
        </p:txBody>
      </p:sp>
      <p:sp>
        <p:nvSpPr>
          <p:cNvPr id="46" name="Text 42"/>
          <p:cNvSpPr/>
          <p:nvPr/>
        </p:nvSpPr>
        <p:spPr>
          <a:xfrm>
            <a:off x="4665873" y="3538221"/>
            <a:ext cx="96441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000000"/>
                </a:solidFill>
              </a:rPr>
              <a:t>{</a:t>
            </a:r>
            <a:endParaRPr lang="en-US" sz="780" dirty="0"/>
          </a:p>
        </p:txBody>
      </p:sp>
      <p:sp>
        <p:nvSpPr>
          <p:cNvPr id="47" name="Text 43"/>
          <p:cNvSpPr/>
          <p:nvPr/>
        </p:nvSpPr>
        <p:spPr>
          <a:xfrm>
            <a:off x="4762314" y="3538221"/>
            <a:ext cx="511671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0052CC"/>
                </a:solidFill>
              </a:rPr>
              <a:t>animation</a:t>
            </a:r>
            <a:endParaRPr lang="en-US" sz="780" dirty="0"/>
          </a:p>
        </p:txBody>
      </p:sp>
      <p:sp>
        <p:nvSpPr>
          <p:cNvPr id="48" name="Text 44"/>
          <p:cNvSpPr/>
          <p:nvPr/>
        </p:nvSpPr>
        <p:spPr>
          <a:xfrm>
            <a:off x="5273985" y="3538221"/>
            <a:ext cx="56592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000000"/>
                </a:solidFill>
              </a:rPr>
              <a:t>:</a:t>
            </a:r>
            <a:endParaRPr lang="en-US" sz="780" dirty="0"/>
          </a:p>
        </p:txBody>
      </p:sp>
      <p:sp>
        <p:nvSpPr>
          <p:cNvPr id="49" name="Text 45"/>
          <p:cNvSpPr/>
          <p:nvPr/>
        </p:nvSpPr>
        <p:spPr>
          <a:xfrm>
            <a:off x="5330577" y="3538221"/>
            <a:ext cx="658062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00796B"/>
                </a:solidFill>
              </a:rPr>
              <a:t>fade-out 0.5s</a:t>
            </a:r>
            <a:endParaRPr lang="en-US" sz="780" dirty="0"/>
          </a:p>
        </p:txBody>
      </p:sp>
      <p:sp>
        <p:nvSpPr>
          <p:cNvPr id="50" name="Text 46"/>
          <p:cNvSpPr/>
          <p:nvPr/>
        </p:nvSpPr>
        <p:spPr>
          <a:xfrm>
            <a:off x="5988639" y="3538221"/>
            <a:ext cx="165897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000000"/>
                </a:solidFill>
              </a:rPr>
              <a:t>; } }</a:t>
            </a:r>
            <a:endParaRPr lang="en-US" sz="7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8286750" cy="81974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28625" y="428625"/>
            <a:ext cx="57150" cy="819745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5" name="Text 2"/>
          <p:cNvSpPr/>
          <p:nvPr/>
        </p:nvSpPr>
        <p:spPr>
          <a:xfrm>
            <a:off x="642938" y="428625"/>
            <a:ext cx="8072438" cy="4982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A1A1A"/>
                </a:solidFill>
              </a:rPr>
              <a:t>實際應用場景與最佳實踐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642938" y="998339"/>
            <a:ext cx="8072438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555555"/>
                </a:solidFill>
              </a:rPr>
              <a:t>從理論到實踐的落地指南</a:t>
            </a:r>
            <a:endParaRPr lang="en-US" sz="1269" dirty="0"/>
          </a:p>
        </p:txBody>
      </p:sp>
      <p:sp>
        <p:nvSpPr>
          <p:cNvPr id="7" name="Shape 4"/>
          <p:cNvSpPr/>
          <p:nvPr/>
        </p:nvSpPr>
        <p:spPr>
          <a:xfrm>
            <a:off x="428625" y="1534120"/>
            <a:ext cx="4972050" cy="136049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5"/>
          <p:cNvSpPr/>
          <p:nvPr/>
        </p:nvSpPr>
        <p:spPr>
          <a:xfrm>
            <a:off x="428625" y="1534120"/>
            <a:ext cx="4972050" cy="28575"/>
          </a:xfrm>
          <a:prstGeom prst="rect">
            <a:avLst/>
          </a:prstGeom>
          <a:solidFill>
            <a:srgbClr val="0052CC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213" y="1688604"/>
            <a:ext cx="142875" cy="14287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71525" y="1662708"/>
            <a:ext cx="1168729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52CC"/>
                </a:solidFill>
              </a:rPr>
              <a:t>View Transitions</a:t>
            </a:r>
            <a:endParaRPr lang="en-US" sz="987" dirty="0"/>
          </a:p>
        </p:txBody>
      </p:sp>
      <p:sp>
        <p:nvSpPr>
          <p:cNvPr id="11" name="Text 7"/>
          <p:cNvSpPr/>
          <p:nvPr/>
        </p:nvSpPr>
        <p:spPr>
          <a:xfrm>
            <a:off x="557213" y="1957388"/>
            <a:ext cx="2307431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1A1A"/>
                </a:solidFill>
              </a:rPr>
              <a:t>電商網站</a:t>
            </a:r>
            <a:endParaRPr lang="en-US" sz="784" dirty="0"/>
          </a:p>
        </p:txBody>
      </p:sp>
      <p:sp>
        <p:nvSpPr>
          <p:cNvPr id="12" name="Text 8"/>
          <p:cNvSpPr/>
          <p:nvPr/>
        </p:nvSpPr>
        <p:spPr>
          <a:xfrm>
            <a:off x="557213" y="2157413"/>
            <a:ext cx="2307431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555555"/>
                </a:solidFill>
              </a:rPr>
              <a:t>列表到詳情頁的圖片連續動畫，購物車數量變化。</a:t>
            </a:r>
            <a:endParaRPr lang="en-US" sz="727" dirty="0"/>
          </a:p>
        </p:txBody>
      </p:sp>
      <p:sp>
        <p:nvSpPr>
          <p:cNvPr id="13" name="Text 9"/>
          <p:cNvSpPr/>
          <p:nvPr/>
        </p:nvSpPr>
        <p:spPr>
          <a:xfrm>
            <a:off x="2964656" y="1957388"/>
            <a:ext cx="2307431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1A1A"/>
                </a:solidFill>
              </a:rPr>
              <a:t>內容網站</a:t>
            </a:r>
            <a:endParaRPr lang="en-US" sz="784" dirty="0"/>
          </a:p>
        </p:txBody>
      </p:sp>
      <p:sp>
        <p:nvSpPr>
          <p:cNvPr id="14" name="Text 10"/>
          <p:cNvSpPr/>
          <p:nvPr/>
        </p:nvSpPr>
        <p:spPr>
          <a:xfrm>
            <a:off x="2964656" y="2157413"/>
            <a:ext cx="2307431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555555"/>
                </a:solidFill>
              </a:rPr>
              <a:t>文章列表到內文的流暢切換，畫廊展開動畫。</a:t>
            </a:r>
            <a:endParaRPr lang="en-US" sz="727" dirty="0"/>
          </a:p>
        </p:txBody>
      </p:sp>
      <p:sp>
        <p:nvSpPr>
          <p:cNvPr id="15" name="Text 11"/>
          <p:cNvSpPr/>
          <p:nvPr/>
        </p:nvSpPr>
        <p:spPr>
          <a:xfrm>
            <a:off x="557213" y="2397426"/>
            <a:ext cx="2307431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1A1A"/>
                </a:solidFill>
              </a:rPr>
              <a:t>儀表板應用</a:t>
            </a:r>
            <a:endParaRPr lang="en-US" sz="784" dirty="0"/>
          </a:p>
        </p:txBody>
      </p:sp>
      <p:sp>
        <p:nvSpPr>
          <p:cNvPr id="16" name="Text 12"/>
          <p:cNvSpPr/>
          <p:nvPr/>
        </p:nvSpPr>
        <p:spPr>
          <a:xfrm>
            <a:off x="557213" y="2597451"/>
            <a:ext cx="2307431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555555"/>
                </a:solidFill>
              </a:rPr>
              <a:t>圖表資料更新過渡，卡片佈局重新排列。</a:t>
            </a:r>
            <a:endParaRPr lang="en-US" sz="727" dirty="0"/>
          </a:p>
        </p:txBody>
      </p:sp>
      <p:sp>
        <p:nvSpPr>
          <p:cNvPr id="17" name="Shape 13"/>
          <p:cNvSpPr/>
          <p:nvPr/>
        </p:nvSpPr>
        <p:spPr>
          <a:xfrm>
            <a:off x="428625" y="3008914"/>
            <a:ext cx="4972050" cy="136049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4"/>
          <p:cNvSpPr/>
          <p:nvPr/>
        </p:nvSpPr>
        <p:spPr>
          <a:xfrm>
            <a:off x="428625" y="3008914"/>
            <a:ext cx="4972050" cy="28575"/>
          </a:xfrm>
          <a:prstGeom prst="rect">
            <a:avLst/>
          </a:prstGeom>
          <a:solidFill>
            <a:srgbClr val="FF4500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213" y="3163398"/>
            <a:ext cx="160734" cy="142875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89384" y="3137502"/>
            <a:ext cx="135876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4500"/>
                </a:solidFill>
              </a:rPr>
              <a:t>Anchor Positioning</a:t>
            </a:r>
            <a:endParaRPr lang="en-US" sz="987" dirty="0"/>
          </a:p>
        </p:txBody>
      </p:sp>
      <p:sp>
        <p:nvSpPr>
          <p:cNvPr id="21" name="Text 16"/>
          <p:cNvSpPr/>
          <p:nvPr/>
        </p:nvSpPr>
        <p:spPr>
          <a:xfrm>
            <a:off x="557213" y="3432181"/>
            <a:ext cx="2307431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1A1A"/>
                </a:solidFill>
              </a:rPr>
              <a:t>互動元件</a:t>
            </a:r>
            <a:endParaRPr lang="en-US" sz="784" dirty="0"/>
          </a:p>
        </p:txBody>
      </p:sp>
      <p:sp>
        <p:nvSpPr>
          <p:cNvPr id="22" name="Text 17"/>
          <p:cNvSpPr/>
          <p:nvPr/>
        </p:nvSpPr>
        <p:spPr>
          <a:xfrm>
            <a:off x="557213" y="3632206"/>
            <a:ext cx="2307431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555555"/>
                </a:solidFill>
              </a:rPr>
              <a:t>Tooltips、下拉選單、日期選擇器。</a:t>
            </a:r>
            <a:endParaRPr lang="en-US" sz="727" dirty="0"/>
          </a:p>
        </p:txBody>
      </p:sp>
      <p:sp>
        <p:nvSpPr>
          <p:cNvPr id="23" name="Text 18"/>
          <p:cNvSpPr/>
          <p:nvPr/>
        </p:nvSpPr>
        <p:spPr>
          <a:xfrm>
            <a:off x="2964656" y="3432181"/>
            <a:ext cx="2307431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1A1A"/>
                </a:solidFill>
              </a:rPr>
              <a:t>表單元素</a:t>
            </a:r>
            <a:endParaRPr lang="en-US" sz="784" dirty="0"/>
          </a:p>
        </p:txBody>
      </p:sp>
      <p:sp>
        <p:nvSpPr>
          <p:cNvPr id="24" name="Text 19"/>
          <p:cNvSpPr/>
          <p:nvPr/>
        </p:nvSpPr>
        <p:spPr>
          <a:xfrm>
            <a:off x="2964656" y="3632206"/>
            <a:ext cx="2307431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555555"/>
                </a:solidFill>
              </a:rPr>
              <a:t>錯誤訊息提示、自動完成建議、浮動標籤。</a:t>
            </a:r>
            <a:endParaRPr lang="en-US" sz="727" dirty="0"/>
          </a:p>
        </p:txBody>
      </p:sp>
      <p:sp>
        <p:nvSpPr>
          <p:cNvPr id="25" name="Text 20"/>
          <p:cNvSpPr/>
          <p:nvPr/>
        </p:nvSpPr>
        <p:spPr>
          <a:xfrm>
            <a:off x="557213" y="3872219"/>
            <a:ext cx="2307431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1A1A"/>
                </a:solidFill>
              </a:rPr>
              <a:t>資料視覺化</a:t>
            </a:r>
            <a:endParaRPr lang="en-US" sz="784" dirty="0"/>
          </a:p>
        </p:txBody>
      </p:sp>
      <p:sp>
        <p:nvSpPr>
          <p:cNvPr id="26" name="Text 21"/>
          <p:cNvSpPr/>
          <p:nvPr/>
        </p:nvSpPr>
        <p:spPr>
          <a:xfrm>
            <a:off x="557213" y="4072244"/>
            <a:ext cx="2307431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555555"/>
                </a:solidFill>
              </a:rPr>
              <a:t>圖表資料點標註、連接線、懸浮資訊卡。</a:t>
            </a:r>
            <a:endParaRPr lang="en-US" sz="727" dirty="0"/>
          </a:p>
        </p:txBody>
      </p:sp>
      <p:sp>
        <p:nvSpPr>
          <p:cNvPr id="27" name="Shape 22"/>
          <p:cNvSpPr/>
          <p:nvPr/>
        </p:nvSpPr>
        <p:spPr>
          <a:xfrm>
            <a:off x="5815013" y="1534120"/>
            <a:ext cx="2900363" cy="318075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8" name="Text 23"/>
          <p:cNvSpPr/>
          <p:nvPr/>
        </p:nvSpPr>
        <p:spPr>
          <a:xfrm>
            <a:off x="5957888" y="1676995"/>
            <a:ext cx="2614613" cy="319683"/>
          </a:xfrm>
          <a:prstGeom prst="rect">
            <a:avLst/>
          </a:prstGeom>
          <a:noFill/>
          <a:ln/>
        </p:spPr>
        <p:txBody>
          <a:bodyPr wrap="square" lIns="0" tIns="0" rIns="0" bIns="102108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spc="1" kern="0" dirty="0">
                <a:solidFill>
                  <a:srgbClr val="FF4500"/>
                </a:solidFill>
              </a:rPr>
              <a:t>最佳實踐建議</a:t>
            </a:r>
            <a:endParaRPr lang="en-US" sz="1090" dirty="0"/>
          </a:p>
        </p:txBody>
      </p:sp>
      <p:sp>
        <p:nvSpPr>
          <p:cNvPr id="29" name="Text 24"/>
          <p:cNvSpPr/>
          <p:nvPr/>
        </p:nvSpPr>
        <p:spPr>
          <a:xfrm>
            <a:off x="5957888" y="2125266"/>
            <a:ext cx="150716" cy="1542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52CC"/>
                </a:solidFill>
              </a:rPr>
              <a:t>01</a:t>
            </a:r>
            <a:endParaRPr lang="en-US" sz="885" dirty="0"/>
          </a:p>
        </p:txBody>
      </p:sp>
      <p:sp>
        <p:nvSpPr>
          <p:cNvPr id="30" name="Text 25"/>
          <p:cNvSpPr/>
          <p:nvPr/>
        </p:nvSpPr>
        <p:spPr>
          <a:xfrm>
            <a:off x="6194329" y="2125266"/>
            <a:ext cx="2378171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34" b="1" dirty="0">
                <a:solidFill>
                  <a:srgbClr val="E0E0E0"/>
                </a:solidFill>
              </a:rPr>
              <a:t>效能優先</a:t>
            </a:r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E0E0E0"/>
                </a:solidFill>
              </a:rPr>
              <a:t>：避免對大量元素同時使用 View </a:t>
            </a:r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E0E0E0"/>
                </a:solidFill>
              </a:rPr>
              <a:t>Transitions。</a:t>
            </a:r>
            <a:endParaRPr lang="en-US" sz="734" dirty="0"/>
          </a:p>
        </p:txBody>
      </p:sp>
      <p:sp>
        <p:nvSpPr>
          <p:cNvPr id="31" name="Text 26"/>
          <p:cNvSpPr/>
          <p:nvPr/>
        </p:nvSpPr>
        <p:spPr>
          <a:xfrm>
            <a:off x="5957888" y="2511028"/>
            <a:ext cx="150716" cy="1542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52CC"/>
                </a:solidFill>
              </a:rPr>
              <a:t>02</a:t>
            </a:r>
            <a:endParaRPr lang="en-US" sz="885" dirty="0"/>
          </a:p>
        </p:txBody>
      </p:sp>
      <p:sp>
        <p:nvSpPr>
          <p:cNvPr id="32" name="Text 27"/>
          <p:cNvSpPr/>
          <p:nvPr/>
        </p:nvSpPr>
        <p:spPr>
          <a:xfrm>
            <a:off x="6194329" y="2511028"/>
            <a:ext cx="2378171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34" b="1" dirty="0">
                <a:solidFill>
                  <a:srgbClr val="E0E0E0"/>
                </a:solidFill>
              </a:rPr>
              <a:t>語意化命名</a:t>
            </a:r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E0E0E0"/>
                </a:solidFill>
              </a:rPr>
              <a:t>：使用描述性的名稱，如 product-</a:t>
            </a:r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E0E0E0"/>
                </a:solidFill>
              </a:rPr>
              <a:t>image。</a:t>
            </a:r>
            <a:endParaRPr lang="en-US" sz="734" dirty="0"/>
          </a:p>
        </p:txBody>
      </p:sp>
      <p:sp>
        <p:nvSpPr>
          <p:cNvPr id="33" name="Text 28"/>
          <p:cNvSpPr/>
          <p:nvPr/>
        </p:nvSpPr>
        <p:spPr>
          <a:xfrm>
            <a:off x="5957888" y="2896791"/>
            <a:ext cx="150716" cy="1542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52CC"/>
                </a:solidFill>
              </a:rPr>
              <a:t>03</a:t>
            </a:r>
            <a:endParaRPr lang="en-US" sz="885" dirty="0"/>
          </a:p>
        </p:txBody>
      </p:sp>
      <p:sp>
        <p:nvSpPr>
          <p:cNvPr id="34" name="Text 29"/>
          <p:cNvSpPr/>
          <p:nvPr/>
        </p:nvSpPr>
        <p:spPr>
          <a:xfrm>
            <a:off x="6194329" y="2896791"/>
            <a:ext cx="235743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34" b="1" dirty="0">
                <a:solidFill>
                  <a:srgbClr val="E0E0E0"/>
                </a:solidFill>
              </a:rPr>
              <a:t>無障礙考量</a:t>
            </a:r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E0E0E0"/>
                </a:solidFill>
              </a:rPr>
              <a:t>：確保動畫不影響鍵盤導航和閱讀器。</a:t>
            </a:r>
            <a:endParaRPr lang="en-US" sz="734" dirty="0"/>
          </a:p>
        </p:txBody>
      </p:sp>
      <p:sp>
        <p:nvSpPr>
          <p:cNvPr id="35" name="Text 30"/>
          <p:cNvSpPr/>
          <p:nvPr/>
        </p:nvSpPr>
        <p:spPr>
          <a:xfrm>
            <a:off x="5957888" y="3136804"/>
            <a:ext cx="150716" cy="1542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52CC"/>
                </a:solidFill>
              </a:rPr>
              <a:t>04</a:t>
            </a:r>
            <a:endParaRPr lang="en-US" sz="885" dirty="0"/>
          </a:p>
        </p:txBody>
      </p:sp>
      <p:sp>
        <p:nvSpPr>
          <p:cNvPr id="36" name="Text 31"/>
          <p:cNvSpPr/>
          <p:nvPr/>
        </p:nvSpPr>
        <p:spPr>
          <a:xfrm>
            <a:off x="6194329" y="3136804"/>
            <a:ext cx="2378171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34" b="1" dirty="0">
                <a:solidFill>
                  <a:srgbClr val="E0E0E0"/>
                </a:solidFill>
              </a:rPr>
              <a:t>尊重偏好</a:t>
            </a:r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E0E0E0"/>
                </a:solidFill>
              </a:rPr>
              <a:t>：檢測 prefers-reduced-motion 並提供</a:t>
            </a:r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E0E0E0"/>
                </a:solidFill>
              </a:rPr>
              <a:t>替代方案。</a:t>
            </a:r>
            <a:endParaRPr lang="en-US" sz="734" dirty="0"/>
          </a:p>
        </p:txBody>
      </p:sp>
      <p:pic>
        <p:nvPicPr>
          <p:cNvPr id="37" name="Image 3" descr="preencoded.png">    </p:cNvPr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5957888" y="3929063"/>
            <a:ext cx="2614613" cy="64293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8286750" cy="81974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28625" y="428625"/>
            <a:ext cx="57150" cy="819745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5" name="Text 2"/>
          <p:cNvSpPr/>
          <p:nvPr/>
        </p:nvSpPr>
        <p:spPr>
          <a:xfrm>
            <a:off x="642938" y="428625"/>
            <a:ext cx="8072438" cy="4982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A1A1A"/>
                </a:solidFill>
              </a:rPr>
              <a:t>結論 - CSS 驅動的網頁未來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642938" y="998339"/>
            <a:ext cx="8072438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555555"/>
                </a:solidFill>
              </a:rPr>
              <a:t>聲明式語法引領前端開發新典範</a:t>
            </a:r>
            <a:endParaRPr lang="en-US" sz="1269" dirty="0"/>
          </a:p>
        </p:txBody>
      </p:sp>
      <p:sp>
        <p:nvSpPr>
          <p:cNvPr id="7" name="Text 4"/>
          <p:cNvSpPr/>
          <p:nvPr/>
        </p:nvSpPr>
        <p:spPr>
          <a:xfrm>
            <a:off x="600075" y="1391245"/>
            <a:ext cx="3971925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52CC"/>
                </a:solidFill>
              </a:rPr>
              <a:t>CSS 正在接管 UI 邏輯</a:t>
            </a:r>
            <a:endParaRPr lang="en-US" sz="1397" dirty="0"/>
          </a:p>
        </p:txBody>
      </p:sp>
      <p:sp>
        <p:nvSpPr>
          <p:cNvPr id="8" name="Text 5"/>
          <p:cNvSpPr/>
          <p:nvPr/>
        </p:nvSpPr>
        <p:spPr>
          <a:xfrm>
            <a:off x="600075" y="1752005"/>
            <a:ext cx="3971925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減少對 JavaScript 框架的重度依賴。將動畫和定位等密集計算交給瀏覽器原生引擎，顯著提升效能與回應速度。</a:t>
            </a:r>
            <a:endParaRPr lang="en-US" sz="942" dirty="0"/>
          </a:p>
        </p:txBody>
      </p:sp>
      <p:sp>
        <p:nvSpPr>
          <p:cNvPr id="9" name="Text 6"/>
          <p:cNvSpPr/>
          <p:nvPr/>
        </p:nvSpPr>
        <p:spPr>
          <a:xfrm>
            <a:off x="600075" y="2306315"/>
            <a:ext cx="3971925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A1A1A"/>
                </a:solidFill>
              </a:rPr>
              <a:t>開發體驗顯著提升</a:t>
            </a:r>
            <a:endParaRPr lang="en-US" sz="1397" dirty="0"/>
          </a:p>
        </p:txBody>
      </p:sp>
      <p:sp>
        <p:nvSpPr>
          <p:cNvPr id="10" name="Text 7"/>
          <p:cNvSpPr/>
          <p:nvPr/>
        </p:nvSpPr>
        <p:spPr>
          <a:xfrm>
            <a:off x="600075" y="2667074"/>
            <a:ext cx="3971925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聲明式語法讓程式碼更直觀、易讀。降低心智負擔，減少 Bug，讓專案更易於維護與擴展。</a:t>
            </a:r>
            <a:endParaRPr lang="en-US" sz="942" dirty="0"/>
          </a:p>
        </p:txBody>
      </p:sp>
      <p:sp>
        <p:nvSpPr>
          <p:cNvPr id="11" name="Shape 8"/>
          <p:cNvSpPr/>
          <p:nvPr/>
        </p:nvSpPr>
        <p:spPr>
          <a:xfrm>
            <a:off x="4986338" y="1391245"/>
            <a:ext cx="1727253" cy="1555552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2" name="Text 9"/>
          <p:cNvSpPr/>
          <p:nvPr/>
        </p:nvSpPr>
        <p:spPr>
          <a:xfrm>
            <a:off x="5129213" y="1534120"/>
            <a:ext cx="1441503" cy="4018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1" kern="0" dirty="0">
                <a:solidFill>
                  <a:srgbClr val="FF4500"/>
                </a:solidFill>
              </a:rPr>
              <a:t>行動呼籲 (Call to Action)</a:t>
            </a:r>
            <a:endParaRPr lang="en-US" sz="987" dirty="0"/>
          </a:p>
        </p:txBody>
      </p:sp>
      <p:sp>
        <p:nvSpPr>
          <p:cNvPr id="13" name="Text 10"/>
          <p:cNvSpPr/>
          <p:nvPr/>
        </p:nvSpPr>
        <p:spPr>
          <a:xfrm>
            <a:off x="5129213" y="2021681"/>
            <a:ext cx="1441503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FFFFFF"/>
                </a:solidFill>
              </a:rPr>
              <a:t>在個人專案中嘗試</a:t>
            </a:r>
            <a:endParaRPr lang="en-US" sz="942" dirty="0"/>
          </a:p>
        </p:txBody>
      </p:sp>
      <p:sp>
        <p:nvSpPr>
          <p:cNvPr id="14" name="Text 11"/>
          <p:cNvSpPr/>
          <p:nvPr/>
        </p:nvSpPr>
        <p:spPr>
          <a:xfrm>
            <a:off x="5129213" y="2282428"/>
            <a:ext cx="1441503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FFFFFF"/>
                </a:solidFill>
              </a:rPr>
              <a:t>採用漸進增強策略</a:t>
            </a:r>
            <a:endParaRPr lang="en-US" sz="942" dirty="0"/>
          </a:p>
        </p:txBody>
      </p:sp>
      <p:sp>
        <p:nvSpPr>
          <p:cNvPr id="15" name="Text 12"/>
          <p:cNvSpPr/>
          <p:nvPr/>
        </p:nvSpPr>
        <p:spPr>
          <a:xfrm>
            <a:off x="5129213" y="2543175"/>
            <a:ext cx="1441503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FFFFFF"/>
                </a:solidFill>
              </a:rPr>
              <a:t>擁抱原生 Web 標準</a:t>
            </a:r>
            <a:endParaRPr lang="en-US" sz="942" dirty="0"/>
          </a:p>
        </p:txBody>
      </p:sp>
      <p:sp>
        <p:nvSpPr>
          <p:cNvPr id="16" name="Shape 13"/>
          <p:cNvSpPr/>
          <p:nvPr/>
        </p:nvSpPr>
        <p:spPr>
          <a:xfrm>
            <a:off x="6856465" y="1391245"/>
            <a:ext cx="1858910" cy="1051861"/>
          </a:xfrm>
          <a:prstGeom prst="rect">
            <a:avLst/>
          </a:prstGeom>
          <a:solidFill>
            <a:srgbClr val="FFFFFF"/>
          </a:solidFill>
          <a:ln w="9144">
            <a:solidFill>
              <a:srgbClr val="DDDDDD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6744" y="1391245"/>
            <a:ext cx="1858631" cy="1045471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6856744" y="1765204"/>
            <a:ext cx="1772906" cy="585788"/>
          </a:xfrm>
          <a:prstGeom prst="rect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19" name="Text 15"/>
          <p:cNvSpPr/>
          <p:nvPr/>
        </p:nvSpPr>
        <p:spPr>
          <a:xfrm>
            <a:off x="6856744" y="1765204"/>
            <a:ext cx="1772906" cy="585788"/>
          </a:xfrm>
          <a:prstGeom prst="rect">
            <a:avLst/>
          </a:prstGeom>
          <a:noFill/>
          <a:ln/>
        </p:spPr>
        <p:txBody>
          <a:bodyPr wrap="square" lIns="85090" tIns="51054" rIns="85090" bIns="51054" rtlCol="0" anchor="t">
            <a:spAutoFit/>
          </a:bodyPr>
          <a:lstStyle/>
          <a:p>
            <a:pPr algn="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</a:rPr>
              <a:t>讓我們一起擁抱 CSS 新紀元！</a:t>
            </a:r>
            <a:endParaRPr lang="en-US" sz="1193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2026-01-04T14:58:56Z</dcterms:created>
  <dcterms:modified xsi:type="dcterms:W3CDTF">2026-01-04T14:58:56Z</dcterms:modified>
</cp:coreProperties>
</file>